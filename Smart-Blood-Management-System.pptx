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8883650"/>
  <p:notesSz cx="11430000" cy="8883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8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9870" y="1611312"/>
            <a:ext cx="4751070" cy="3920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9870" y="415925"/>
            <a:ext cx="969962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07831" y="2401887"/>
            <a:ext cx="4928234" cy="2996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FFB39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49870" y="2063750"/>
            <a:ext cx="543687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280"/>
              <a:t>Sma</a:t>
            </a:r>
            <a:r>
              <a:rPr lang="en-US" spc="280"/>
              <a:t>r</a:t>
            </a:r>
            <a:r>
              <a:rPr spc="280"/>
              <a:t>t</a:t>
            </a:r>
            <a:r>
              <a:rPr spc="-65"/>
              <a:t> </a:t>
            </a:r>
            <a:r>
              <a:rPr spc="65" dirty="0"/>
              <a:t>Blood</a:t>
            </a:r>
            <a:r>
              <a:rPr spc="-60" dirty="0"/>
              <a:t> </a:t>
            </a:r>
            <a:r>
              <a:rPr spc="135" dirty="0"/>
              <a:t>Management </a:t>
            </a:r>
            <a:r>
              <a:rPr spc="120" dirty="0"/>
              <a:t>System</a:t>
            </a:r>
          </a:p>
        </p:txBody>
      </p:sp>
      <p:sp>
        <p:nvSpPr>
          <p:cNvPr id="7" name="object 7"/>
          <p:cNvSpPr/>
          <p:nvPr/>
        </p:nvSpPr>
        <p:spPr>
          <a:xfrm>
            <a:off x="561974" y="4105274"/>
            <a:ext cx="2952750" cy="238125"/>
          </a:xfrm>
          <a:custGeom>
            <a:avLst/>
            <a:gdLst/>
            <a:ahLst/>
            <a:cxnLst/>
            <a:rect l="l" t="t" r="r" b="b"/>
            <a:pathLst>
              <a:path w="2952750" h="238125">
                <a:moveTo>
                  <a:pt x="2938807" y="238124"/>
                </a:moveTo>
                <a:lnTo>
                  <a:pt x="13941" y="238124"/>
                </a:lnTo>
                <a:lnTo>
                  <a:pt x="11891" y="237716"/>
                </a:lnTo>
                <a:lnTo>
                  <a:pt x="0" y="224182"/>
                </a:lnTo>
                <a:lnTo>
                  <a:pt x="0" y="222051"/>
                </a:lnTo>
                <a:lnTo>
                  <a:pt x="0" y="13941"/>
                </a:lnTo>
                <a:lnTo>
                  <a:pt x="13941" y="0"/>
                </a:lnTo>
                <a:lnTo>
                  <a:pt x="2938807" y="0"/>
                </a:lnTo>
                <a:lnTo>
                  <a:pt x="2952749" y="13941"/>
                </a:lnTo>
                <a:lnTo>
                  <a:pt x="2952749" y="224182"/>
                </a:lnTo>
                <a:lnTo>
                  <a:pt x="2940857" y="237716"/>
                </a:lnTo>
                <a:lnTo>
                  <a:pt x="2938807" y="238124"/>
                </a:lnTo>
                <a:close/>
              </a:path>
            </a:pathLst>
          </a:custGeom>
          <a:solidFill>
            <a:srgbClr val="4D1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870" y="3353187"/>
            <a:ext cx="5823585" cy="952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spc="65" dirty="0">
                <a:solidFill>
                  <a:srgbClr val="F4CAB8"/>
                </a:solidFill>
                <a:latin typeface="Verdana"/>
                <a:cs typeface="Verdana"/>
              </a:rPr>
              <a:t>An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Innovative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Approach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Java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—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redefining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how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banks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operate,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track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inventory,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save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lives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through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intelligent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software.</a:t>
            </a:r>
            <a:endParaRPr sz="12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50" dirty="0">
              <a:latin typeface="Verdana"/>
              <a:cs typeface="Verdana"/>
            </a:endParaRPr>
          </a:p>
          <a:p>
            <a:pPr marL="108585">
              <a:lnSpc>
                <a:spcPct val="100000"/>
              </a:lnSpc>
            </a:pPr>
            <a:r>
              <a:rPr sz="1000" dirty="0">
                <a:solidFill>
                  <a:srgbClr val="F4CAB8"/>
                </a:solidFill>
                <a:latin typeface="Verdana"/>
                <a:cs typeface="Verdana"/>
              </a:rPr>
              <a:t>JAVA</a:t>
            </a:r>
            <a:r>
              <a:rPr sz="100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spc="-95" dirty="0">
                <a:solidFill>
                  <a:srgbClr val="F4CAB8"/>
                </a:solidFill>
                <a:latin typeface="Verdana"/>
                <a:cs typeface="Verdana"/>
              </a:rPr>
              <a:t>·</a:t>
            </a:r>
            <a:r>
              <a:rPr sz="100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4CAB8"/>
                </a:solidFill>
                <a:latin typeface="Verdana"/>
                <a:cs typeface="Verdana"/>
              </a:rPr>
              <a:t>SPRING</a:t>
            </a:r>
            <a:r>
              <a:rPr sz="100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4CAB8"/>
                </a:solidFill>
                <a:latin typeface="Verdana"/>
                <a:cs typeface="Verdana"/>
              </a:rPr>
              <a:t>BOOT</a:t>
            </a:r>
            <a:r>
              <a:rPr sz="100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spc="-95" dirty="0">
                <a:solidFill>
                  <a:srgbClr val="F4CAB8"/>
                </a:solidFill>
                <a:latin typeface="Verdana"/>
                <a:cs typeface="Verdana"/>
              </a:rPr>
              <a:t>·</a:t>
            </a:r>
            <a:r>
              <a:rPr sz="100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4CAB8"/>
                </a:solidFill>
                <a:latin typeface="Verdana"/>
                <a:cs typeface="Verdana"/>
              </a:rPr>
              <a:t>HEALTHCARE</a:t>
            </a:r>
            <a:r>
              <a:rPr sz="100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4CAB8"/>
                </a:solidFill>
                <a:latin typeface="Verdana"/>
                <a:cs typeface="Verdana"/>
              </a:rPr>
              <a:t>TECH</a:t>
            </a:r>
            <a:endParaRPr sz="10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49" cy="64388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49" cy="64388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836119" y="635000"/>
            <a:ext cx="523430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114" dirty="0"/>
              <a:t>Challenges</a:t>
            </a:r>
            <a:r>
              <a:rPr spc="-45" dirty="0"/>
              <a:t> </a:t>
            </a:r>
            <a:r>
              <a:rPr spc="100" dirty="0"/>
              <a:t>in</a:t>
            </a:r>
            <a:r>
              <a:rPr spc="-40" dirty="0"/>
              <a:t> </a:t>
            </a:r>
            <a:r>
              <a:rPr spc="105" dirty="0"/>
              <a:t>Tíaditional </a:t>
            </a:r>
            <a:r>
              <a:rPr spc="65" dirty="0"/>
              <a:t>Blood</a:t>
            </a:r>
            <a:r>
              <a:rPr spc="-65" dirty="0"/>
              <a:t> </a:t>
            </a:r>
            <a:r>
              <a:rPr spc="135" dirty="0"/>
              <a:t>Management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36119" y="1924437"/>
            <a:ext cx="6021070" cy="796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Manual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systems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are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slow,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error-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prone,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costly.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Hospitals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struggle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with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outdated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records,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delayed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responses,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no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real-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time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visibility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into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blood availability.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48224" y="2933699"/>
            <a:ext cx="2933700" cy="1466850"/>
          </a:xfrm>
          <a:custGeom>
            <a:avLst/>
            <a:gdLst/>
            <a:ahLst/>
            <a:cxnLst/>
            <a:rect l="l" t="t" r="r" b="b"/>
            <a:pathLst>
              <a:path w="2933700" h="1466850">
                <a:moveTo>
                  <a:pt x="2916272" y="1466849"/>
                </a:moveTo>
                <a:lnTo>
                  <a:pt x="17427" y="1466849"/>
                </a:lnTo>
                <a:lnTo>
                  <a:pt x="14864" y="1466339"/>
                </a:lnTo>
                <a:lnTo>
                  <a:pt x="0" y="1449422"/>
                </a:lnTo>
                <a:lnTo>
                  <a:pt x="0" y="1446758"/>
                </a:lnTo>
                <a:lnTo>
                  <a:pt x="0" y="17427"/>
                </a:lnTo>
                <a:lnTo>
                  <a:pt x="17427" y="0"/>
                </a:lnTo>
                <a:lnTo>
                  <a:pt x="2916272" y="0"/>
                </a:lnTo>
                <a:lnTo>
                  <a:pt x="2933699" y="17427"/>
                </a:lnTo>
                <a:lnTo>
                  <a:pt x="2933699" y="1449422"/>
                </a:lnTo>
                <a:lnTo>
                  <a:pt x="2918834" y="1466339"/>
                </a:lnTo>
                <a:lnTo>
                  <a:pt x="2916272" y="1466849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96854" y="3040071"/>
            <a:ext cx="2557145" cy="11677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625" dirty="0">
                <a:latin typeface="Segoe UI Symbol"/>
                <a:cs typeface="Segoe UI Symbol"/>
              </a:rPr>
              <a:t>⏳</a:t>
            </a:r>
            <a:r>
              <a:rPr sz="1950" spc="125" dirty="0">
                <a:latin typeface="Segoe UI Symbol"/>
                <a:cs typeface="Segoe UI Symbol"/>
              </a:rPr>
              <a:t> </a:t>
            </a:r>
            <a:r>
              <a:rPr sz="1650" b="1" dirty="0">
                <a:solidFill>
                  <a:srgbClr val="F4CAB8"/>
                </a:solidFill>
                <a:latin typeface="Cambria"/>
                <a:cs typeface="Cambria"/>
              </a:rPr>
              <a:t>Dclm?cd</a:t>
            </a:r>
            <a:r>
              <a:rPr sz="1650" b="1" spc="-1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70" dirty="0">
                <a:solidFill>
                  <a:srgbClr val="F4CAB8"/>
                </a:solidFill>
                <a:latin typeface="Cambria"/>
                <a:cs typeface="Cambria"/>
              </a:rPr>
              <a:t>Píoccssing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3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Manual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entry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slows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donor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registration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blood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allocation</a:t>
            </a:r>
            <a:r>
              <a:rPr sz="1250" spc="16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during</a:t>
            </a:r>
            <a:r>
              <a:rPr sz="1250" spc="16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emergencies.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4323" y="2933699"/>
            <a:ext cx="2933700" cy="1466850"/>
          </a:xfrm>
          <a:custGeom>
            <a:avLst/>
            <a:gdLst/>
            <a:ahLst/>
            <a:cxnLst/>
            <a:rect l="l" t="t" r="r" b="b"/>
            <a:pathLst>
              <a:path w="2933700" h="1466850">
                <a:moveTo>
                  <a:pt x="2916272" y="1466849"/>
                </a:moveTo>
                <a:lnTo>
                  <a:pt x="17427" y="1466849"/>
                </a:lnTo>
                <a:lnTo>
                  <a:pt x="14864" y="1466339"/>
                </a:lnTo>
                <a:lnTo>
                  <a:pt x="0" y="1449422"/>
                </a:lnTo>
                <a:lnTo>
                  <a:pt x="0" y="1446758"/>
                </a:lnTo>
                <a:lnTo>
                  <a:pt x="0" y="17427"/>
                </a:lnTo>
                <a:lnTo>
                  <a:pt x="17427" y="0"/>
                </a:lnTo>
                <a:lnTo>
                  <a:pt x="2916272" y="0"/>
                </a:lnTo>
                <a:lnTo>
                  <a:pt x="2933699" y="17427"/>
                </a:lnTo>
                <a:lnTo>
                  <a:pt x="2933699" y="1449422"/>
                </a:lnTo>
                <a:lnTo>
                  <a:pt x="2918833" y="1466339"/>
                </a:lnTo>
                <a:lnTo>
                  <a:pt x="2916272" y="1466849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086526" y="3040071"/>
            <a:ext cx="2564130" cy="11677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195" dirty="0">
                <a:latin typeface="Segoe UI Symbol"/>
                <a:cs typeface="Segoe UI Symbol"/>
              </a:rPr>
              <a:t>📉</a:t>
            </a:r>
            <a:r>
              <a:rPr sz="1950" spc="-250" dirty="0">
                <a:latin typeface="Segoe UI Symbol"/>
                <a:cs typeface="Segoe UI Symbol"/>
              </a:rPr>
              <a:t> </a:t>
            </a:r>
            <a:r>
              <a:rPr sz="1650" b="1" spc="100" dirty="0">
                <a:solidFill>
                  <a:srgbClr val="F4CAB8"/>
                </a:solidFill>
                <a:latin typeface="Cambria"/>
                <a:cs typeface="Cambria"/>
              </a:rPr>
              <a:t>Invcntoí?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 4mps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35"/>
              </a:spcBef>
            </a:pPr>
            <a:r>
              <a:rPr sz="1250" spc="55" dirty="0">
                <a:solidFill>
                  <a:srgbClr val="F4CAB8"/>
                </a:solidFill>
                <a:latin typeface="Verdana"/>
                <a:cs typeface="Verdana"/>
              </a:rPr>
              <a:t>No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real-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time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tracking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leads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shortages</a:t>
            </a:r>
            <a:r>
              <a:rPr sz="125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or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wastage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of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critical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1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units.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8224" y="4562474"/>
            <a:ext cx="6019800" cy="1209675"/>
          </a:xfrm>
          <a:custGeom>
            <a:avLst/>
            <a:gdLst/>
            <a:ahLst/>
            <a:cxnLst/>
            <a:rect l="l" t="t" r="r" b="b"/>
            <a:pathLst>
              <a:path w="6019800" h="1209675">
                <a:moveTo>
                  <a:pt x="6002371" y="1209674"/>
                </a:moveTo>
                <a:lnTo>
                  <a:pt x="17427" y="1209674"/>
                </a:lnTo>
                <a:lnTo>
                  <a:pt x="14864" y="1209164"/>
                </a:lnTo>
                <a:lnTo>
                  <a:pt x="0" y="1192247"/>
                </a:lnTo>
                <a:lnTo>
                  <a:pt x="0" y="1189583"/>
                </a:lnTo>
                <a:lnTo>
                  <a:pt x="0" y="17427"/>
                </a:lnTo>
                <a:lnTo>
                  <a:pt x="17427" y="0"/>
                </a:lnTo>
                <a:lnTo>
                  <a:pt x="6002371" y="0"/>
                </a:lnTo>
                <a:lnTo>
                  <a:pt x="6019798" y="17427"/>
                </a:lnTo>
                <a:lnTo>
                  <a:pt x="6019798" y="1192247"/>
                </a:lnTo>
                <a:lnTo>
                  <a:pt x="6004933" y="1209164"/>
                </a:lnTo>
                <a:lnTo>
                  <a:pt x="6002371" y="1209674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96854" y="4668846"/>
            <a:ext cx="5219700" cy="9105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dirty="0">
                <a:latin typeface="Segoe UI Symbol"/>
                <a:cs typeface="Segoe UI Symbol"/>
              </a:rPr>
              <a:t>🔒</a:t>
            </a:r>
            <a:r>
              <a:rPr sz="1950" spc="-35" dirty="0">
                <a:latin typeface="Segoe UI Symbol"/>
                <a:cs typeface="Segoe UI Symbol"/>
              </a:rPr>
              <a:t> </a:t>
            </a:r>
            <a:r>
              <a:rPr sz="1650" b="1" spc="-210" dirty="0">
                <a:solidFill>
                  <a:srgbClr val="F4CAB8"/>
                </a:solidFill>
                <a:latin typeface="Cambria"/>
                <a:cs typeface="Cambria"/>
              </a:rPr>
              <a:t>Dmtm</a:t>
            </a:r>
            <a:r>
              <a:rPr sz="1650" b="1" spc="-3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Risks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3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Paper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records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are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vulnerable to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loss,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damage,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unauthorised access.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401050"/>
          </a:xfrm>
          <a:custGeom>
            <a:avLst/>
            <a:gdLst/>
            <a:ahLst/>
            <a:cxnLst/>
            <a:rect l="l" t="t" r="r" b="b"/>
            <a:pathLst>
              <a:path w="11430000" h="8401050">
                <a:moveTo>
                  <a:pt x="11429999" y="8401049"/>
                </a:moveTo>
                <a:lnTo>
                  <a:pt x="0" y="84010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40104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4" dirty="0"/>
              <a:t>S?stcm</a:t>
            </a:r>
            <a:r>
              <a:rPr spc="-65" dirty="0"/>
              <a:t> </a:t>
            </a:r>
            <a:r>
              <a:rPr spc="210" dirty="0"/>
              <a:t>6íchitcctuíc:</a:t>
            </a:r>
            <a:r>
              <a:rPr spc="-60" dirty="0"/>
              <a:t> </a:t>
            </a:r>
            <a:r>
              <a:rPr spc="-350" dirty="0"/>
              <a:t>Jmvm-</a:t>
            </a:r>
            <a:r>
              <a:rPr spc="-75" dirty="0"/>
              <a:t>Bmscd</a:t>
            </a:r>
            <a:r>
              <a:rPr spc="-65" dirty="0"/>
              <a:t> </a:t>
            </a:r>
            <a:r>
              <a:rPr spc="95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870" y="3438912"/>
            <a:ext cx="4316730" cy="796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system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follows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clean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1" spc="-60" dirty="0">
                <a:solidFill>
                  <a:srgbClr val="F4CAB8"/>
                </a:solidFill>
                <a:latin typeface="Verdana"/>
                <a:cs typeface="Verdana"/>
              </a:rPr>
              <a:t>three-tier</a:t>
            </a:r>
            <a:r>
              <a:rPr sz="1250" b="1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1" spc="-50" dirty="0">
                <a:solidFill>
                  <a:srgbClr val="F4CAB8"/>
                </a:solidFill>
                <a:latin typeface="Verdana"/>
                <a:cs typeface="Verdana"/>
              </a:rPr>
              <a:t>architecture</a:t>
            </a:r>
            <a:r>
              <a:rPr sz="1250" b="1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F4CAB8"/>
                </a:solidFill>
                <a:latin typeface="Verdana"/>
                <a:cs typeface="Verdana"/>
              </a:rPr>
              <a:t>—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separating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presentation,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business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logic,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data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persistence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scalability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maintainability.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4550" y="1400175"/>
            <a:ext cx="4952999" cy="495299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61974" y="6715124"/>
            <a:ext cx="3324225" cy="1238250"/>
            <a:chOff x="561974" y="6715124"/>
            <a:chExt cx="3324225" cy="1238250"/>
          </a:xfrm>
        </p:grpSpPr>
        <p:sp>
          <p:nvSpPr>
            <p:cNvPr id="7" name="object 7"/>
            <p:cNvSpPr/>
            <p:nvPr/>
          </p:nvSpPr>
          <p:spPr>
            <a:xfrm>
              <a:off x="571499" y="6724649"/>
              <a:ext cx="3305175" cy="1219200"/>
            </a:xfrm>
            <a:custGeom>
              <a:avLst/>
              <a:gdLst/>
              <a:ahLst/>
              <a:cxnLst/>
              <a:rect l="l" t="t" r="r" b="b"/>
              <a:pathLst>
                <a:path w="3305175" h="1219200">
                  <a:moveTo>
                    <a:pt x="3297525" y="1219199"/>
                  </a:moveTo>
                  <a:lnTo>
                    <a:pt x="62297" y="1219199"/>
                  </a:lnTo>
                  <a:lnTo>
                    <a:pt x="57961" y="1218772"/>
                  </a:lnTo>
                  <a:lnTo>
                    <a:pt x="22624" y="1202766"/>
                  </a:lnTo>
                  <a:lnTo>
                    <a:pt x="2135" y="1169824"/>
                  </a:lnTo>
                  <a:lnTo>
                    <a:pt x="0" y="1156902"/>
                  </a:lnTo>
                  <a:lnTo>
                    <a:pt x="0" y="115252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3297525" y="0"/>
                  </a:lnTo>
                  <a:lnTo>
                    <a:pt x="3300016" y="1031"/>
                  </a:lnTo>
                  <a:lnTo>
                    <a:pt x="3304143" y="5157"/>
                  </a:lnTo>
                  <a:lnTo>
                    <a:pt x="3305174" y="7648"/>
                  </a:lnTo>
                  <a:lnTo>
                    <a:pt x="3305174" y="1211550"/>
                  </a:lnTo>
                  <a:lnTo>
                    <a:pt x="3304143" y="1214041"/>
                  </a:lnTo>
                  <a:lnTo>
                    <a:pt x="3300016" y="1218167"/>
                  </a:lnTo>
                  <a:lnTo>
                    <a:pt x="3297525" y="1219199"/>
                  </a:lnTo>
                  <a:close/>
                </a:path>
              </a:pathLst>
            </a:custGeom>
            <a:solidFill>
              <a:srgbClr val="5C2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499" y="6724649"/>
              <a:ext cx="3305175" cy="1219200"/>
            </a:xfrm>
            <a:custGeom>
              <a:avLst/>
              <a:gdLst/>
              <a:ahLst/>
              <a:cxnLst/>
              <a:rect l="l" t="t" r="r" b="b"/>
              <a:pathLst>
                <a:path w="3305175" h="1219200">
                  <a:moveTo>
                    <a:pt x="0" y="11525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9" y="5074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94608" y="0"/>
                  </a:lnTo>
                  <a:lnTo>
                    <a:pt x="3297525" y="0"/>
                  </a:lnTo>
                  <a:lnTo>
                    <a:pt x="3300016" y="1031"/>
                  </a:lnTo>
                  <a:lnTo>
                    <a:pt x="3302079" y="3094"/>
                  </a:lnTo>
                  <a:lnTo>
                    <a:pt x="3304143" y="5157"/>
                  </a:lnTo>
                  <a:lnTo>
                    <a:pt x="3305174" y="7648"/>
                  </a:lnTo>
                  <a:lnTo>
                    <a:pt x="3305174" y="10566"/>
                  </a:lnTo>
                  <a:lnTo>
                    <a:pt x="3305174" y="1208633"/>
                  </a:lnTo>
                  <a:lnTo>
                    <a:pt x="3305174" y="1211550"/>
                  </a:lnTo>
                  <a:lnTo>
                    <a:pt x="3304143" y="1214041"/>
                  </a:lnTo>
                  <a:lnTo>
                    <a:pt x="3302079" y="1216104"/>
                  </a:lnTo>
                  <a:lnTo>
                    <a:pt x="3300016" y="1218167"/>
                  </a:lnTo>
                  <a:lnTo>
                    <a:pt x="3297525" y="1219199"/>
                  </a:lnTo>
                  <a:lnTo>
                    <a:pt x="3294608" y="1219199"/>
                  </a:lnTo>
                  <a:lnTo>
                    <a:pt x="66675" y="1219199"/>
                  </a:lnTo>
                  <a:lnTo>
                    <a:pt x="41159" y="1214123"/>
                  </a:lnTo>
                  <a:lnTo>
                    <a:pt x="37114" y="1212448"/>
                  </a:lnTo>
                  <a:lnTo>
                    <a:pt x="33272" y="1210394"/>
                  </a:lnTo>
                  <a:lnTo>
                    <a:pt x="29632" y="1207961"/>
                  </a:lnTo>
                  <a:lnTo>
                    <a:pt x="25992" y="1205529"/>
                  </a:lnTo>
                  <a:lnTo>
                    <a:pt x="11236" y="1189566"/>
                  </a:lnTo>
                  <a:lnTo>
                    <a:pt x="8804" y="1185926"/>
                  </a:lnTo>
                  <a:lnTo>
                    <a:pt x="0" y="1156902"/>
                  </a:lnTo>
                  <a:lnTo>
                    <a:pt x="0" y="1152524"/>
                  </a:lnTo>
                  <a:close/>
                </a:path>
              </a:pathLst>
            </a:custGeom>
            <a:ln w="19049">
              <a:solidFill>
                <a:srgbClr val="662E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8174" y="6869112"/>
            <a:ext cx="3238500" cy="882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5"/>
              </a:spcBef>
            </a:pPr>
            <a:r>
              <a:rPr sz="1650" b="1" spc="45" dirty="0">
                <a:solidFill>
                  <a:srgbClr val="F4CAB8"/>
                </a:solidFill>
                <a:latin typeface="Cambria"/>
                <a:cs typeface="Cambria"/>
              </a:rPr>
              <a:t>Pícscntmtion</a:t>
            </a:r>
            <a:r>
              <a:rPr sz="1650" b="1" spc="-3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Lm?cí</a:t>
            </a:r>
            <a:endParaRPr sz="1650">
              <a:latin typeface="Cambria"/>
              <a:cs typeface="Cambria"/>
            </a:endParaRPr>
          </a:p>
          <a:p>
            <a:pPr marL="180340" marR="1078230">
              <a:lnSpc>
                <a:spcPct val="135000"/>
              </a:lnSpc>
              <a:spcBef>
                <a:spcPts val="670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JavaFX</a:t>
            </a:r>
            <a:r>
              <a:rPr sz="1250" spc="-9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25" dirty="0">
                <a:solidFill>
                  <a:srgbClr val="F4CAB8"/>
                </a:solidFill>
                <a:latin typeface="Verdana"/>
                <a:cs typeface="Verdana"/>
              </a:rPr>
              <a:t>/</a:t>
            </a:r>
            <a:r>
              <a:rPr sz="1250" spc="-9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Web</a:t>
            </a:r>
            <a:r>
              <a:rPr sz="1250" spc="-8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UI</a:t>
            </a:r>
            <a:r>
              <a:rPr sz="1250" spc="-9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spc="-8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staff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interaction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1974" y="6715124"/>
            <a:ext cx="76200" cy="1238250"/>
          </a:xfrm>
          <a:custGeom>
            <a:avLst/>
            <a:gdLst/>
            <a:ahLst/>
            <a:cxnLst/>
            <a:rect l="l" t="t" r="r" b="b"/>
            <a:pathLst>
              <a:path w="76200" h="1238250">
                <a:moveTo>
                  <a:pt x="76200" y="1238249"/>
                </a:moveTo>
                <a:lnTo>
                  <a:pt x="17427" y="1238249"/>
                </a:lnTo>
                <a:lnTo>
                  <a:pt x="0" y="1220821"/>
                </a:lnTo>
                <a:lnTo>
                  <a:pt x="0" y="1218158"/>
                </a:lnTo>
                <a:lnTo>
                  <a:pt x="0" y="17426"/>
                </a:lnTo>
                <a:lnTo>
                  <a:pt x="17427" y="0"/>
                </a:lnTo>
                <a:lnTo>
                  <a:pt x="76200" y="0"/>
                </a:lnTo>
                <a:lnTo>
                  <a:pt x="76200" y="12382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4048124" y="6715124"/>
            <a:ext cx="3333750" cy="1238250"/>
            <a:chOff x="4048124" y="6715124"/>
            <a:chExt cx="3333750" cy="1238250"/>
          </a:xfrm>
        </p:grpSpPr>
        <p:sp>
          <p:nvSpPr>
            <p:cNvPr id="11" name="object 11"/>
            <p:cNvSpPr/>
            <p:nvPr/>
          </p:nvSpPr>
          <p:spPr>
            <a:xfrm>
              <a:off x="4057649" y="6724649"/>
              <a:ext cx="3314700" cy="1219200"/>
            </a:xfrm>
            <a:custGeom>
              <a:avLst/>
              <a:gdLst/>
              <a:ahLst/>
              <a:cxnLst/>
              <a:rect l="l" t="t" r="r" b="b"/>
              <a:pathLst>
                <a:path w="3314700" h="1219200">
                  <a:moveTo>
                    <a:pt x="3307051" y="1219199"/>
                  </a:moveTo>
                  <a:lnTo>
                    <a:pt x="62297" y="1219199"/>
                  </a:lnTo>
                  <a:lnTo>
                    <a:pt x="57960" y="1218772"/>
                  </a:lnTo>
                  <a:lnTo>
                    <a:pt x="22624" y="1202766"/>
                  </a:lnTo>
                  <a:lnTo>
                    <a:pt x="2135" y="1169824"/>
                  </a:lnTo>
                  <a:lnTo>
                    <a:pt x="0" y="1156902"/>
                  </a:lnTo>
                  <a:lnTo>
                    <a:pt x="0" y="115252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307051" y="0"/>
                  </a:lnTo>
                  <a:lnTo>
                    <a:pt x="3309541" y="1031"/>
                  </a:lnTo>
                  <a:lnTo>
                    <a:pt x="3313668" y="5157"/>
                  </a:lnTo>
                  <a:lnTo>
                    <a:pt x="3314699" y="7648"/>
                  </a:lnTo>
                  <a:lnTo>
                    <a:pt x="3314699" y="1211550"/>
                  </a:lnTo>
                  <a:lnTo>
                    <a:pt x="3313668" y="1214041"/>
                  </a:lnTo>
                  <a:lnTo>
                    <a:pt x="3309541" y="1218167"/>
                  </a:lnTo>
                  <a:lnTo>
                    <a:pt x="3307051" y="1219199"/>
                  </a:lnTo>
                  <a:close/>
                </a:path>
              </a:pathLst>
            </a:custGeom>
            <a:solidFill>
              <a:srgbClr val="5C2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57649" y="6724649"/>
              <a:ext cx="3314700" cy="1219200"/>
            </a:xfrm>
            <a:custGeom>
              <a:avLst/>
              <a:gdLst/>
              <a:ahLst/>
              <a:cxnLst/>
              <a:rect l="l" t="t" r="r" b="b"/>
              <a:pathLst>
                <a:path w="3314700" h="1219200">
                  <a:moveTo>
                    <a:pt x="0" y="11525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1" y="53666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5075" y="41158"/>
                  </a:lnTo>
                  <a:lnTo>
                    <a:pt x="6750" y="37113"/>
                  </a:lnTo>
                  <a:lnTo>
                    <a:pt x="8804" y="33271"/>
                  </a:lnTo>
                  <a:lnTo>
                    <a:pt x="11236" y="29631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5"/>
                  </a:lnTo>
                  <a:lnTo>
                    <a:pt x="33272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304133" y="0"/>
                  </a:lnTo>
                  <a:lnTo>
                    <a:pt x="3307051" y="0"/>
                  </a:lnTo>
                  <a:lnTo>
                    <a:pt x="3309541" y="1031"/>
                  </a:lnTo>
                  <a:lnTo>
                    <a:pt x="3311604" y="3094"/>
                  </a:lnTo>
                  <a:lnTo>
                    <a:pt x="3313668" y="5157"/>
                  </a:lnTo>
                  <a:lnTo>
                    <a:pt x="3314699" y="7648"/>
                  </a:lnTo>
                  <a:lnTo>
                    <a:pt x="3314700" y="10566"/>
                  </a:lnTo>
                  <a:lnTo>
                    <a:pt x="3314700" y="1208633"/>
                  </a:lnTo>
                  <a:lnTo>
                    <a:pt x="3304133" y="1219199"/>
                  </a:lnTo>
                  <a:lnTo>
                    <a:pt x="66675" y="1219199"/>
                  </a:lnTo>
                  <a:lnTo>
                    <a:pt x="62297" y="1219199"/>
                  </a:lnTo>
                  <a:lnTo>
                    <a:pt x="57960" y="1218772"/>
                  </a:lnTo>
                  <a:lnTo>
                    <a:pt x="53667" y="1217918"/>
                  </a:lnTo>
                  <a:lnTo>
                    <a:pt x="49373" y="1217064"/>
                  </a:lnTo>
                  <a:lnTo>
                    <a:pt x="45203" y="1215798"/>
                  </a:lnTo>
                  <a:lnTo>
                    <a:pt x="41159" y="1214123"/>
                  </a:lnTo>
                  <a:lnTo>
                    <a:pt x="37114" y="1212448"/>
                  </a:lnTo>
                  <a:lnTo>
                    <a:pt x="33272" y="1210394"/>
                  </a:lnTo>
                  <a:lnTo>
                    <a:pt x="29632" y="1207961"/>
                  </a:lnTo>
                  <a:lnTo>
                    <a:pt x="25992" y="1205529"/>
                  </a:lnTo>
                  <a:lnTo>
                    <a:pt x="22624" y="1202766"/>
                  </a:lnTo>
                  <a:lnTo>
                    <a:pt x="19528" y="1199670"/>
                  </a:lnTo>
                  <a:lnTo>
                    <a:pt x="16432" y="1196575"/>
                  </a:lnTo>
                  <a:lnTo>
                    <a:pt x="13668" y="1193206"/>
                  </a:lnTo>
                  <a:lnTo>
                    <a:pt x="11236" y="1189566"/>
                  </a:lnTo>
                  <a:lnTo>
                    <a:pt x="8804" y="1185926"/>
                  </a:lnTo>
                  <a:lnTo>
                    <a:pt x="6750" y="1182083"/>
                  </a:lnTo>
                  <a:lnTo>
                    <a:pt x="5075" y="1178039"/>
                  </a:lnTo>
                  <a:lnTo>
                    <a:pt x="3399" y="1173994"/>
                  </a:lnTo>
                  <a:lnTo>
                    <a:pt x="2135" y="1169824"/>
                  </a:lnTo>
                  <a:lnTo>
                    <a:pt x="1281" y="1165531"/>
                  </a:lnTo>
                  <a:lnTo>
                    <a:pt x="426" y="1161238"/>
                  </a:lnTo>
                  <a:lnTo>
                    <a:pt x="0" y="1156902"/>
                  </a:lnTo>
                  <a:lnTo>
                    <a:pt x="0" y="1152524"/>
                  </a:lnTo>
                  <a:close/>
                </a:path>
              </a:pathLst>
            </a:custGeom>
            <a:ln w="19049">
              <a:solidFill>
                <a:srgbClr val="662E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24324" y="6869112"/>
            <a:ext cx="3248025" cy="882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F4CAB8"/>
                </a:solidFill>
                <a:latin typeface="Cambria"/>
                <a:cs typeface="Cambria"/>
              </a:rPr>
              <a:t>Busincss</a:t>
            </a:r>
            <a:r>
              <a:rPr sz="1650" b="1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Lm?cí</a:t>
            </a:r>
            <a:endParaRPr sz="1650">
              <a:latin typeface="Cambria"/>
              <a:cs typeface="Cambria"/>
            </a:endParaRPr>
          </a:p>
          <a:p>
            <a:pPr marL="182245" marR="213995">
              <a:lnSpc>
                <a:spcPct val="135000"/>
              </a:lnSpc>
              <a:spcBef>
                <a:spcPts val="670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Spring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Boot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services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handling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core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logic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48124" y="6715124"/>
            <a:ext cx="76200" cy="1238250"/>
          </a:xfrm>
          <a:custGeom>
            <a:avLst/>
            <a:gdLst/>
            <a:ahLst/>
            <a:cxnLst/>
            <a:rect l="l" t="t" r="r" b="b"/>
            <a:pathLst>
              <a:path w="76200" h="1238250">
                <a:moveTo>
                  <a:pt x="76200" y="1238249"/>
                </a:moveTo>
                <a:lnTo>
                  <a:pt x="17427" y="1238249"/>
                </a:lnTo>
                <a:lnTo>
                  <a:pt x="0" y="1220821"/>
                </a:lnTo>
                <a:lnTo>
                  <a:pt x="0" y="1218158"/>
                </a:lnTo>
                <a:lnTo>
                  <a:pt x="0" y="17426"/>
                </a:lnTo>
                <a:lnTo>
                  <a:pt x="17427" y="0"/>
                </a:lnTo>
                <a:lnTo>
                  <a:pt x="76200" y="0"/>
                </a:lnTo>
                <a:lnTo>
                  <a:pt x="76200" y="12382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7543798" y="6715124"/>
            <a:ext cx="3324225" cy="1238250"/>
            <a:chOff x="7543798" y="6715124"/>
            <a:chExt cx="3324225" cy="1238250"/>
          </a:xfrm>
        </p:grpSpPr>
        <p:sp>
          <p:nvSpPr>
            <p:cNvPr id="15" name="object 15"/>
            <p:cNvSpPr/>
            <p:nvPr/>
          </p:nvSpPr>
          <p:spPr>
            <a:xfrm>
              <a:off x="7553323" y="6724649"/>
              <a:ext cx="3305175" cy="1219200"/>
            </a:xfrm>
            <a:custGeom>
              <a:avLst/>
              <a:gdLst/>
              <a:ahLst/>
              <a:cxnLst/>
              <a:rect l="l" t="t" r="r" b="b"/>
              <a:pathLst>
                <a:path w="3305175" h="1219200">
                  <a:moveTo>
                    <a:pt x="3297525" y="1219199"/>
                  </a:moveTo>
                  <a:lnTo>
                    <a:pt x="62297" y="1219199"/>
                  </a:lnTo>
                  <a:lnTo>
                    <a:pt x="57961" y="1218772"/>
                  </a:lnTo>
                  <a:lnTo>
                    <a:pt x="22624" y="1202766"/>
                  </a:lnTo>
                  <a:lnTo>
                    <a:pt x="2134" y="1169824"/>
                  </a:lnTo>
                  <a:lnTo>
                    <a:pt x="0" y="1156902"/>
                  </a:lnTo>
                  <a:lnTo>
                    <a:pt x="0" y="1152524"/>
                  </a:lnTo>
                  <a:lnTo>
                    <a:pt x="0" y="62296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297525" y="0"/>
                  </a:lnTo>
                  <a:lnTo>
                    <a:pt x="3300016" y="1031"/>
                  </a:lnTo>
                  <a:lnTo>
                    <a:pt x="3304143" y="5157"/>
                  </a:lnTo>
                  <a:lnTo>
                    <a:pt x="3305175" y="7648"/>
                  </a:lnTo>
                  <a:lnTo>
                    <a:pt x="3305175" y="1211550"/>
                  </a:lnTo>
                  <a:lnTo>
                    <a:pt x="3304143" y="1214041"/>
                  </a:lnTo>
                  <a:lnTo>
                    <a:pt x="3300016" y="1218167"/>
                  </a:lnTo>
                  <a:lnTo>
                    <a:pt x="3297525" y="1219199"/>
                  </a:lnTo>
                  <a:close/>
                </a:path>
              </a:pathLst>
            </a:custGeom>
            <a:solidFill>
              <a:srgbClr val="5C24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3323" y="6724649"/>
              <a:ext cx="3305175" cy="1219200"/>
            </a:xfrm>
            <a:custGeom>
              <a:avLst/>
              <a:gdLst/>
              <a:ahLst/>
              <a:cxnLst/>
              <a:rect l="l" t="t" r="r" b="b"/>
              <a:pathLst>
                <a:path w="3305175" h="1219200">
                  <a:moveTo>
                    <a:pt x="0" y="11525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8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94608" y="0"/>
                  </a:lnTo>
                  <a:lnTo>
                    <a:pt x="3297525" y="0"/>
                  </a:lnTo>
                  <a:lnTo>
                    <a:pt x="3300016" y="1031"/>
                  </a:lnTo>
                  <a:lnTo>
                    <a:pt x="3302080" y="3094"/>
                  </a:lnTo>
                  <a:lnTo>
                    <a:pt x="3304143" y="5157"/>
                  </a:lnTo>
                  <a:lnTo>
                    <a:pt x="3305175" y="7648"/>
                  </a:lnTo>
                  <a:lnTo>
                    <a:pt x="3305175" y="10566"/>
                  </a:lnTo>
                  <a:lnTo>
                    <a:pt x="3305175" y="1208633"/>
                  </a:lnTo>
                  <a:lnTo>
                    <a:pt x="3305175" y="1211550"/>
                  </a:lnTo>
                  <a:lnTo>
                    <a:pt x="3304143" y="1214041"/>
                  </a:lnTo>
                  <a:lnTo>
                    <a:pt x="3302080" y="1216104"/>
                  </a:lnTo>
                  <a:lnTo>
                    <a:pt x="3300016" y="1218167"/>
                  </a:lnTo>
                  <a:lnTo>
                    <a:pt x="3297525" y="1219199"/>
                  </a:lnTo>
                  <a:lnTo>
                    <a:pt x="3294608" y="1219199"/>
                  </a:lnTo>
                  <a:lnTo>
                    <a:pt x="66675" y="1219199"/>
                  </a:lnTo>
                  <a:lnTo>
                    <a:pt x="41159" y="1214123"/>
                  </a:lnTo>
                  <a:lnTo>
                    <a:pt x="37114" y="1212448"/>
                  </a:lnTo>
                  <a:lnTo>
                    <a:pt x="33271" y="1210394"/>
                  </a:lnTo>
                  <a:lnTo>
                    <a:pt x="29631" y="1207961"/>
                  </a:lnTo>
                  <a:lnTo>
                    <a:pt x="25992" y="1205529"/>
                  </a:lnTo>
                  <a:lnTo>
                    <a:pt x="22624" y="1202766"/>
                  </a:lnTo>
                  <a:lnTo>
                    <a:pt x="19528" y="1199670"/>
                  </a:lnTo>
                  <a:lnTo>
                    <a:pt x="16432" y="1196575"/>
                  </a:lnTo>
                  <a:lnTo>
                    <a:pt x="13667" y="1193206"/>
                  </a:lnTo>
                  <a:lnTo>
                    <a:pt x="11235" y="1189566"/>
                  </a:lnTo>
                  <a:lnTo>
                    <a:pt x="8802" y="1185926"/>
                  </a:lnTo>
                  <a:lnTo>
                    <a:pt x="0" y="1156902"/>
                  </a:lnTo>
                  <a:lnTo>
                    <a:pt x="0" y="1152524"/>
                  </a:lnTo>
                  <a:close/>
                </a:path>
              </a:pathLst>
            </a:custGeom>
            <a:ln w="19049">
              <a:solidFill>
                <a:srgbClr val="662E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82917" y="6869112"/>
            <a:ext cx="1797050" cy="882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10" dirty="0">
                <a:solidFill>
                  <a:srgbClr val="F4CAB8"/>
                </a:solidFill>
                <a:latin typeface="Cambria"/>
                <a:cs typeface="Cambria"/>
              </a:rPr>
              <a:t>Dmtm</a:t>
            </a:r>
            <a:r>
              <a:rPr sz="1650" b="1" spc="-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Lm?cí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MySQL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database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with 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JPA/Hibernate</a:t>
            </a:r>
            <a:r>
              <a:rPr sz="1250" spc="1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ORM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543798" y="6715124"/>
            <a:ext cx="76200" cy="1238250"/>
          </a:xfrm>
          <a:custGeom>
            <a:avLst/>
            <a:gdLst/>
            <a:ahLst/>
            <a:cxnLst/>
            <a:rect l="l" t="t" r="r" b="b"/>
            <a:pathLst>
              <a:path w="76200" h="1238250">
                <a:moveTo>
                  <a:pt x="76200" y="1238249"/>
                </a:moveTo>
                <a:lnTo>
                  <a:pt x="17427" y="1238249"/>
                </a:lnTo>
                <a:lnTo>
                  <a:pt x="0" y="1220821"/>
                </a:lnTo>
                <a:lnTo>
                  <a:pt x="0" y="1218158"/>
                </a:lnTo>
                <a:lnTo>
                  <a:pt x="0" y="17426"/>
                </a:lnTo>
                <a:lnTo>
                  <a:pt x="17427" y="0"/>
                </a:lnTo>
                <a:lnTo>
                  <a:pt x="76200" y="0"/>
                </a:lnTo>
                <a:lnTo>
                  <a:pt x="76200" y="12382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29600"/>
          </a:xfrm>
          <a:custGeom>
            <a:avLst/>
            <a:gdLst/>
            <a:ahLst/>
            <a:cxnLst/>
            <a:rect l="l" t="t" r="r" b="b"/>
            <a:pathLst>
              <a:path w="11430000" h="8229600">
                <a:moveTo>
                  <a:pt x="114299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2295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49" cy="822959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5" dirty="0"/>
              <a:t>¼c?</a:t>
            </a:r>
            <a:r>
              <a:rPr spc="-20" dirty="0"/>
              <a:t> </a:t>
            </a:r>
            <a:r>
              <a:rPr dirty="0"/>
              <a:t>Fcmtuícs</a:t>
            </a:r>
            <a:r>
              <a:rPr spc="-5" dirty="0"/>
              <a:t> </a:t>
            </a:r>
            <a:r>
              <a:rPr spc="-450" dirty="0"/>
              <a:t>mt</a:t>
            </a:r>
            <a:r>
              <a:rPr spc="-5" dirty="0"/>
              <a:t> </a:t>
            </a:r>
            <a:r>
              <a:rPr spc="-1080" dirty="0"/>
              <a:t>m</a:t>
            </a:r>
            <a:r>
              <a:rPr spc="-5" dirty="0"/>
              <a:t> </a:t>
            </a:r>
            <a:r>
              <a:rPr spc="-10" dirty="0"/>
              <a:t>4lmncc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967" y="1212079"/>
            <a:ext cx="243457" cy="3357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49870" y="1716087"/>
            <a:ext cx="598043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F4CAB8"/>
                </a:solidFill>
                <a:latin typeface="Cambria"/>
                <a:cs typeface="Cambria"/>
              </a:rPr>
              <a:t>Rcml-</a:t>
            </a:r>
            <a:r>
              <a:rPr sz="1650" b="1" spc="70" dirty="0">
                <a:solidFill>
                  <a:srgbClr val="F4CAB8"/>
                </a:solidFill>
                <a:latin typeface="Cambria"/>
                <a:cs typeface="Cambria"/>
              </a:rPr>
              <a:t>Timc</a:t>
            </a:r>
            <a:r>
              <a:rPr sz="1650" b="1" spc="1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90" dirty="0">
                <a:solidFill>
                  <a:srgbClr val="F4CAB8"/>
                </a:solidFill>
                <a:latin typeface="Cambria"/>
                <a:cs typeface="Cambria"/>
              </a:rPr>
              <a:t>Invcntoí?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Live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tracking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of blood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units by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type,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expiry,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 location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across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all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storage facilities.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855" y="2946407"/>
            <a:ext cx="335706" cy="31510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9870" y="3440112"/>
            <a:ext cx="553212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10" dirty="0">
                <a:solidFill>
                  <a:srgbClr val="F4CAB8"/>
                </a:solidFill>
                <a:latin typeface="Cambria"/>
                <a:cs typeface="Cambria"/>
              </a:rPr>
              <a:t>Donoí</a:t>
            </a:r>
            <a:r>
              <a:rPr sz="1650" b="1" spc="-10" dirty="0">
                <a:solidFill>
                  <a:srgbClr val="F4CAB8"/>
                </a:solidFill>
                <a:latin typeface="Cambria"/>
                <a:cs typeface="Cambria"/>
              </a:rPr>
              <a:t> Mmnmgcmcnt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Complete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donor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profiles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with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donation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history,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eligibility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status,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automated</a:t>
            </a:r>
            <a:r>
              <a:rPr sz="1250" spc="2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reminders.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7049" y="4667249"/>
            <a:ext cx="291465" cy="321945"/>
          </a:xfrm>
          <a:custGeom>
            <a:avLst/>
            <a:gdLst/>
            <a:ahLst/>
            <a:cxnLst/>
            <a:rect l="l" t="t" r="r" b="b"/>
            <a:pathLst>
              <a:path w="291465" h="321945">
                <a:moveTo>
                  <a:pt x="94824" y="266927"/>
                </a:moveTo>
                <a:lnTo>
                  <a:pt x="144292" y="266841"/>
                </a:lnTo>
              </a:path>
              <a:path w="291465" h="321945">
                <a:moveTo>
                  <a:pt x="250104" y="266848"/>
                </a:moveTo>
                <a:lnTo>
                  <a:pt x="289240" y="255566"/>
                </a:lnTo>
                <a:lnTo>
                  <a:pt x="291222" y="248042"/>
                </a:lnTo>
                <a:lnTo>
                  <a:pt x="291145" y="245123"/>
                </a:lnTo>
                <a:lnTo>
                  <a:pt x="290574" y="242152"/>
                </a:lnTo>
                <a:lnTo>
                  <a:pt x="289436" y="238865"/>
                </a:lnTo>
              </a:path>
              <a:path w="291465" h="321945">
                <a:moveTo>
                  <a:pt x="200892" y="266894"/>
                </a:moveTo>
                <a:lnTo>
                  <a:pt x="186787" y="302484"/>
                </a:lnTo>
                <a:lnTo>
                  <a:pt x="150858" y="321275"/>
                </a:lnTo>
                <a:lnTo>
                  <a:pt x="145486" y="321468"/>
                </a:lnTo>
                <a:lnTo>
                  <a:pt x="140119" y="321227"/>
                </a:lnTo>
                <a:lnTo>
                  <a:pt x="104969" y="303151"/>
                </a:lnTo>
                <a:lnTo>
                  <a:pt x="92495" y="279902"/>
                </a:lnTo>
                <a:lnTo>
                  <a:pt x="90147" y="266939"/>
                </a:lnTo>
              </a:path>
              <a:path w="291465" h="321945">
                <a:moveTo>
                  <a:pt x="289436" y="238865"/>
                </a:moveTo>
                <a:lnTo>
                  <a:pt x="288204" y="236446"/>
                </a:lnTo>
                <a:lnTo>
                  <a:pt x="285551" y="232626"/>
                </a:lnTo>
                <a:lnTo>
                  <a:pt x="276728" y="222609"/>
                </a:lnTo>
                <a:lnTo>
                  <a:pt x="271601" y="215628"/>
                </a:lnTo>
                <a:lnTo>
                  <a:pt x="252089" y="179182"/>
                </a:lnTo>
                <a:lnTo>
                  <a:pt x="246342" y="161993"/>
                </a:lnTo>
                <a:lnTo>
                  <a:pt x="243946" y="150895"/>
                </a:lnTo>
              </a:path>
              <a:path w="291465" h="321945">
                <a:moveTo>
                  <a:pt x="241448" y="111021"/>
                </a:moveTo>
                <a:lnTo>
                  <a:pt x="230284" y="69851"/>
                </a:lnTo>
                <a:lnTo>
                  <a:pt x="204037" y="39497"/>
                </a:lnTo>
                <a:lnTo>
                  <a:pt x="169305" y="23189"/>
                </a:lnTo>
                <a:lnTo>
                  <a:pt x="147424" y="21011"/>
                </a:lnTo>
                <a:lnTo>
                  <a:pt x="139707" y="21181"/>
                </a:lnTo>
                <a:lnTo>
                  <a:pt x="100067" y="31279"/>
                </a:lnTo>
                <a:lnTo>
                  <a:pt x="67214" y="59580"/>
                </a:lnTo>
                <a:lnTo>
                  <a:pt x="50746" y="98597"/>
                </a:lnTo>
                <a:lnTo>
                  <a:pt x="48871" y="133372"/>
                </a:lnTo>
                <a:lnTo>
                  <a:pt x="47923" y="141437"/>
                </a:lnTo>
                <a:lnTo>
                  <a:pt x="37253" y="183710"/>
                </a:lnTo>
                <a:lnTo>
                  <a:pt x="18222" y="217291"/>
                </a:lnTo>
                <a:lnTo>
                  <a:pt x="4517" y="234129"/>
                </a:lnTo>
                <a:lnTo>
                  <a:pt x="1831" y="238586"/>
                </a:lnTo>
                <a:lnTo>
                  <a:pt x="553" y="242164"/>
                </a:lnTo>
                <a:lnTo>
                  <a:pt x="110" y="244444"/>
                </a:lnTo>
                <a:lnTo>
                  <a:pt x="0" y="247181"/>
                </a:lnTo>
                <a:lnTo>
                  <a:pt x="565" y="252094"/>
                </a:lnTo>
                <a:lnTo>
                  <a:pt x="18167" y="266585"/>
                </a:lnTo>
                <a:lnTo>
                  <a:pt x="21760" y="266839"/>
                </a:lnTo>
              </a:path>
              <a:path w="291465" h="321945">
                <a:moveTo>
                  <a:pt x="145447" y="20700"/>
                </a:moveTo>
                <a:lnTo>
                  <a:pt x="145479" y="0"/>
                </a:lnTo>
              </a:path>
              <a:path w="291465" h="321945">
                <a:moveTo>
                  <a:pt x="243946" y="150895"/>
                </a:moveTo>
                <a:lnTo>
                  <a:pt x="241448" y="111021"/>
                </a:lnTo>
              </a:path>
              <a:path w="291465" h="321945">
                <a:moveTo>
                  <a:pt x="144292" y="266841"/>
                </a:moveTo>
                <a:lnTo>
                  <a:pt x="250104" y="266848"/>
                </a:lnTo>
              </a:path>
              <a:path w="291465" h="321945">
                <a:moveTo>
                  <a:pt x="21760" y="266839"/>
                </a:moveTo>
                <a:lnTo>
                  <a:pt x="94824" y="266927"/>
                </a:lnTo>
              </a:path>
            </a:pathLst>
          </a:custGeom>
          <a:ln w="14238">
            <a:solidFill>
              <a:srgbClr val="FFB3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9870" y="5164137"/>
            <a:ext cx="555371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F4CAB8"/>
                </a:solidFill>
                <a:latin typeface="Cambria"/>
                <a:cs typeface="Cambria"/>
              </a:rPr>
              <a:t>Low-</a:t>
            </a:r>
            <a:r>
              <a:rPr sz="1650" b="1" spc="95" dirty="0">
                <a:solidFill>
                  <a:srgbClr val="F4CAB8"/>
                </a:solidFill>
                <a:latin typeface="Cambria"/>
                <a:cs typeface="Cambria"/>
              </a:rPr>
              <a:t>Stock</a:t>
            </a:r>
            <a:r>
              <a:rPr sz="1650" b="1" spc="-1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125" dirty="0">
                <a:solidFill>
                  <a:srgbClr val="F4CAB8"/>
                </a:solidFill>
                <a:latin typeface="Cambria"/>
                <a:cs typeface="Cambria"/>
              </a:rPr>
              <a:t>6lcíts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Automated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notifications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when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group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levels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fall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below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defined thresholds.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794" y="6384153"/>
            <a:ext cx="331662" cy="3357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9870" y="6878637"/>
            <a:ext cx="5865495" cy="882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F4CAB8"/>
                </a:solidFill>
                <a:latin typeface="Cambria"/>
                <a:cs typeface="Cambria"/>
              </a:rPr>
              <a:t>Scmích</a:t>
            </a:r>
            <a:r>
              <a:rPr sz="1650" b="1" spc="95" dirty="0">
                <a:solidFill>
                  <a:srgbClr val="F4CAB8"/>
                </a:solidFill>
                <a:latin typeface="Cambria"/>
                <a:cs typeface="Cambria"/>
              </a:rPr>
              <a:t> &amp;</a:t>
            </a:r>
            <a:r>
              <a:rPr sz="1650" b="1" spc="10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90" dirty="0">
                <a:solidFill>
                  <a:srgbClr val="F4CAB8"/>
                </a:solidFill>
                <a:latin typeface="Cambria"/>
                <a:cs typeface="Cambria"/>
              </a:rPr>
              <a:t>Rcpoíting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Advanced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filters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audit-ready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reports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administrators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medical staff.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96150"/>
          </a:xfrm>
          <a:custGeom>
            <a:avLst/>
            <a:gdLst/>
            <a:ahLst/>
            <a:cxnLst/>
            <a:rect l="l" t="t" r="r" b="b"/>
            <a:pathLst>
              <a:path w="11430000" h="7296150">
                <a:moveTo>
                  <a:pt x="11429999" y="7296149"/>
                </a:moveTo>
                <a:lnTo>
                  <a:pt x="0" y="72961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29614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Donoí</a:t>
            </a:r>
            <a:r>
              <a:rPr spc="-55" dirty="0"/>
              <a:t> </a:t>
            </a:r>
            <a:r>
              <a:rPr spc="80" dirty="0"/>
              <a:t>Modulc:</a:t>
            </a:r>
            <a:r>
              <a:rPr spc="-50" dirty="0"/>
              <a:t> </a:t>
            </a:r>
            <a:r>
              <a:rPr spc="60" dirty="0"/>
              <a:t>Rcgistímtion</a:t>
            </a:r>
            <a:r>
              <a:rPr spc="-50" dirty="0"/>
              <a:t> </a:t>
            </a:r>
            <a:r>
              <a:rPr spc="170" dirty="0"/>
              <a:t>&amp;</a:t>
            </a:r>
            <a:r>
              <a:rPr spc="-55" dirty="0"/>
              <a:t> </a:t>
            </a:r>
            <a:r>
              <a:rPr spc="75" dirty="0"/>
              <a:t>Eligibilit?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1400174"/>
            <a:ext cx="6562724" cy="37147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12347" y="2686437"/>
            <a:ext cx="3275329" cy="1054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Donor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F4CAB8"/>
                </a:solidFill>
                <a:latin typeface="Verdana"/>
                <a:cs typeface="Verdana"/>
              </a:rPr>
              <a:t>Module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simplifies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entire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journey —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from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first-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time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registration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to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repeat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donations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—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with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built-in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safety checks.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870" y="5455887"/>
            <a:ext cx="199390" cy="218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-25" dirty="0">
                <a:solidFill>
                  <a:srgbClr val="F4CAB8"/>
                </a:solidFill>
                <a:latin typeface="Trebuchet MS"/>
                <a:cs typeface="Trebuchet MS"/>
              </a:rPr>
              <a:t>01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8401" y="5455887"/>
            <a:ext cx="215265" cy="218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60" dirty="0">
                <a:solidFill>
                  <a:srgbClr val="F4CAB8"/>
                </a:solidFill>
                <a:latin typeface="Trebuchet MS"/>
                <a:cs typeface="Trebuchet MS"/>
              </a:rPr>
              <a:t>02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6932" y="5455887"/>
            <a:ext cx="207010" cy="218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spc="30" dirty="0">
                <a:solidFill>
                  <a:srgbClr val="F4CAB8"/>
                </a:solidFill>
                <a:latin typeface="Trebuchet MS"/>
                <a:cs typeface="Trebuchet MS"/>
              </a:rPr>
              <a:t>03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1974" y="57340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4" y="19049"/>
                </a:moveTo>
                <a:lnTo>
                  <a:pt x="0" y="19049"/>
                </a:lnTo>
                <a:lnTo>
                  <a:pt x="0" y="0"/>
                </a:lnTo>
                <a:lnTo>
                  <a:pt x="3324224" y="0"/>
                </a:lnTo>
                <a:lnTo>
                  <a:pt x="3324224" y="190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48124" y="5734049"/>
            <a:ext cx="3333750" cy="19050"/>
          </a:xfrm>
          <a:custGeom>
            <a:avLst/>
            <a:gdLst/>
            <a:ahLst/>
            <a:cxnLst/>
            <a:rect l="l" t="t" r="r" b="b"/>
            <a:pathLst>
              <a:path w="3333750" h="19050">
                <a:moveTo>
                  <a:pt x="3333749" y="19049"/>
                </a:moveTo>
                <a:lnTo>
                  <a:pt x="0" y="19049"/>
                </a:lnTo>
                <a:lnTo>
                  <a:pt x="0" y="0"/>
                </a:lnTo>
                <a:lnTo>
                  <a:pt x="3333749" y="0"/>
                </a:lnTo>
                <a:lnTo>
                  <a:pt x="3333749" y="190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43799" y="5734049"/>
            <a:ext cx="3324225" cy="19050"/>
          </a:xfrm>
          <a:custGeom>
            <a:avLst/>
            <a:gdLst/>
            <a:ahLst/>
            <a:cxnLst/>
            <a:rect l="l" t="t" r="r" b="b"/>
            <a:pathLst>
              <a:path w="3324225" h="19050">
                <a:moveTo>
                  <a:pt x="3324224" y="19049"/>
                </a:moveTo>
                <a:lnTo>
                  <a:pt x="0" y="19049"/>
                </a:lnTo>
                <a:lnTo>
                  <a:pt x="0" y="0"/>
                </a:lnTo>
                <a:lnTo>
                  <a:pt x="3324224" y="0"/>
                </a:lnTo>
                <a:lnTo>
                  <a:pt x="3324224" y="19049"/>
                </a:lnTo>
                <a:close/>
              </a:path>
            </a:pathLst>
          </a:custGeom>
          <a:solidFill>
            <a:srgbClr val="FFB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9870" y="5830887"/>
            <a:ext cx="3040380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F4CAB8"/>
                </a:solidFill>
                <a:latin typeface="Cambria"/>
                <a:cs typeface="Cambria"/>
              </a:rPr>
              <a:t>Online</a:t>
            </a:r>
            <a:r>
              <a:rPr sz="1650" b="1" spc="-2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70" dirty="0">
                <a:solidFill>
                  <a:srgbClr val="F4CAB8"/>
                </a:solidFill>
                <a:latin typeface="Cambria"/>
                <a:cs typeface="Cambria"/>
              </a:rPr>
              <a:t>Registíation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Donors</a:t>
            </a: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register</a:t>
            </a: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via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web</a:t>
            </a: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or</a:t>
            </a: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kiosk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with 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demographic</a:t>
            </a:r>
            <a:r>
              <a:rPr sz="1250" spc="6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medical</a:t>
            </a:r>
            <a:r>
              <a:rPr sz="1250" spc="6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details.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8401" y="5830887"/>
            <a:ext cx="307784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" dirty="0">
                <a:solidFill>
                  <a:srgbClr val="F4CAB8"/>
                </a:solidFill>
                <a:latin typeface="Cambria"/>
                <a:cs typeface="Cambria"/>
              </a:rPr>
              <a:t>Eligibility</a:t>
            </a:r>
            <a:r>
              <a:rPr sz="1650" b="1" spc="30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90" dirty="0">
                <a:solidFill>
                  <a:srgbClr val="F4CAB8"/>
                </a:solidFill>
                <a:latin typeface="Cambria"/>
                <a:cs typeface="Cambria"/>
              </a:rPr>
              <a:t>Scíeening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Automated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checks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age,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weight, 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haemoglobin,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last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donation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date.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6932" y="5830887"/>
            <a:ext cx="3335654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75" dirty="0">
                <a:solidFill>
                  <a:srgbClr val="F4CAB8"/>
                </a:solidFill>
                <a:latin typeface="Cambria"/>
                <a:cs typeface="Cambria"/>
              </a:rPr>
              <a:t>Appointment</a:t>
            </a:r>
            <a:r>
              <a:rPr sz="1650" b="1" spc="-1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60" dirty="0">
                <a:solidFill>
                  <a:srgbClr val="F4CAB8"/>
                </a:solidFill>
                <a:latin typeface="Cambria"/>
                <a:cs typeface="Cambria"/>
              </a:rPr>
              <a:t>Scheduling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Donors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book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F4CAB8"/>
                </a:solidFill>
                <a:latin typeface="Verdana"/>
                <a:cs typeface="Verdana"/>
              </a:rPr>
              <a:t>slots;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system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sends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SMS/email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confirmations</a:t>
            </a:r>
            <a:r>
              <a:rPr sz="1250" spc="8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reminders.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00850"/>
          </a:xfrm>
          <a:custGeom>
            <a:avLst/>
            <a:gdLst/>
            <a:ahLst/>
            <a:cxnLst/>
            <a:rect l="l" t="t" r="r" b="b"/>
            <a:pathLst>
              <a:path w="11430000" h="6800850">
                <a:moveTo>
                  <a:pt x="11429999" y="6800849"/>
                </a:moveTo>
                <a:lnTo>
                  <a:pt x="0" y="680084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80084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Blood</a:t>
            </a:r>
            <a:r>
              <a:rPr spc="-55" dirty="0"/>
              <a:t> </a:t>
            </a:r>
            <a:r>
              <a:rPr spc="95" dirty="0"/>
              <a:t>Request</a:t>
            </a:r>
            <a:r>
              <a:rPr spc="-50" dirty="0"/>
              <a:t> </a:t>
            </a:r>
            <a:r>
              <a:rPr spc="50" dirty="0"/>
              <a:t>Module:</a:t>
            </a:r>
            <a:r>
              <a:rPr spc="-50" dirty="0"/>
              <a:t> </a:t>
            </a:r>
            <a:r>
              <a:rPr spc="130" dirty="0"/>
              <a:t>Píocessing</a:t>
            </a:r>
            <a:r>
              <a:rPr spc="-50" dirty="0"/>
              <a:t> </a:t>
            </a:r>
            <a:r>
              <a:rPr spc="170" dirty="0"/>
              <a:t>&amp;</a:t>
            </a:r>
            <a:r>
              <a:rPr spc="-50" dirty="0"/>
              <a:t> </a:t>
            </a:r>
            <a:r>
              <a:rPr spc="85" dirty="0"/>
              <a:t>Allocation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9870" y="1248162"/>
            <a:ext cx="10128885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When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a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hospital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submits a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request,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 system instantly matches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available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units,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validates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compatibility,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confirms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allocation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—</a:t>
            </a:r>
            <a:r>
              <a:rPr sz="125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all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within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seconds.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13" y="2144825"/>
            <a:ext cx="7705024" cy="20299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34698" y="4605172"/>
            <a:ext cx="1299845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0495">
              <a:lnSpc>
                <a:spcPct val="104000"/>
              </a:lnSpc>
            </a:pPr>
            <a:r>
              <a:rPr sz="1950" b="1" spc="35" dirty="0">
                <a:solidFill>
                  <a:srgbClr val="F4CAB8"/>
                </a:solidFill>
                <a:latin typeface="Cambria"/>
                <a:cs typeface="Cambria"/>
              </a:rPr>
              <a:t>Request </a:t>
            </a:r>
            <a:r>
              <a:rPr sz="1950" b="1" spc="65" dirty="0">
                <a:solidFill>
                  <a:srgbClr val="F4CAB8"/>
                </a:solidFill>
                <a:latin typeface="Cambria"/>
                <a:cs typeface="Cambria"/>
              </a:rPr>
              <a:t>Submitted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88195" y="4605172"/>
            <a:ext cx="1446530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0" marR="5080" indent="-197485">
              <a:lnSpc>
                <a:spcPct val="104000"/>
              </a:lnSpc>
            </a:pPr>
            <a:r>
              <a:rPr sz="1950" b="1" spc="50" dirty="0">
                <a:solidFill>
                  <a:srgbClr val="F4CAB8"/>
                </a:solidFill>
                <a:latin typeface="Cambria"/>
                <a:cs typeface="Cambria"/>
              </a:rPr>
              <a:t>Compatibili </a:t>
            </a:r>
            <a:r>
              <a:rPr sz="1950" b="1" dirty="0">
                <a:solidFill>
                  <a:srgbClr val="F4CAB8"/>
                </a:solidFill>
                <a:latin typeface="Cambria"/>
                <a:cs typeface="Cambria"/>
              </a:rPr>
              <a:t>ty</a:t>
            </a:r>
            <a:r>
              <a:rPr sz="1950" b="1" spc="1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950" b="1" spc="80" dirty="0">
                <a:solidFill>
                  <a:srgbClr val="F4CAB8"/>
                </a:solidFill>
                <a:latin typeface="Cambria"/>
                <a:cs typeface="Cambria"/>
              </a:rPr>
              <a:t>Check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68081" y="4605172"/>
            <a:ext cx="1258570" cy="631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55600">
              <a:lnSpc>
                <a:spcPct val="104000"/>
              </a:lnSpc>
            </a:pPr>
            <a:r>
              <a:rPr sz="1950" b="1" spc="45" dirty="0">
                <a:solidFill>
                  <a:srgbClr val="F4CAB8"/>
                </a:solidFill>
                <a:latin typeface="Cambria"/>
                <a:cs typeface="Cambria"/>
              </a:rPr>
              <a:t>Unit </a:t>
            </a:r>
            <a:r>
              <a:rPr sz="1950" b="1" spc="40" dirty="0">
                <a:solidFill>
                  <a:srgbClr val="F4CAB8"/>
                </a:solidFill>
                <a:latin typeface="Cambria"/>
                <a:cs typeface="Cambria"/>
              </a:rPr>
              <a:t>Allocation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6549" y="4450606"/>
            <a:ext cx="1493520" cy="940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4000"/>
              </a:lnSpc>
            </a:pPr>
            <a:r>
              <a:rPr sz="1950" b="1" spc="55" dirty="0">
                <a:solidFill>
                  <a:srgbClr val="F4CAB8"/>
                </a:solidFill>
                <a:latin typeface="Cambria"/>
                <a:cs typeface="Cambria"/>
              </a:rPr>
              <a:t>Dispatch </a:t>
            </a:r>
            <a:r>
              <a:rPr sz="1950" b="1" spc="80" dirty="0">
                <a:solidFill>
                  <a:srgbClr val="F4CAB8"/>
                </a:solidFill>
                <a:latin typeface="Cambria"/>
                <a:cs typeface="Cambria"/>
              </a:rPr>
              <a:t>Confiímatio </a:t>
            </a:r>
            <a:r>
              <a:rPr sz="1950" b="1" spc="30" dirty="0">
                <a:solidFill>
                  <a:srgbClr val="F4CAB8"/>
                </a:solidFill>
                <a:latin typeface="Cambria"/>
                <a:cs typeface="Cambria"/>
              </a:rPr>
              <a:t>n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870" y="5791587"/>
            <a:ext cx="10024745" cy="53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This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streamlined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workflow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eliminates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manual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cross-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referencing,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reduces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human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error,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ensures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right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reaches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right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patient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at</a:t>
            </a:r>
            <a:r>
              <a:rPr sz="1250" spc="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right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time.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Technology</a:t>
            </a:r>
            <a:r>
              <a:rPr spc="-60" dirty="0"/>
              <a:t> </a:t>
            </a:r>
            <a:r>
              <a:rPr spc="165" dirty="0"/>
              <a:t>Stack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61974" y="1314449"/>
            <a:ext cx="5076825" cy="1838325"/>
            <a:chOff x="561974" y="1314449"/>
            <a:chExt cx="5076825" cy="1838325"/>
          </a:xfrm>
        </p:grpSpPr>
        <p:sp>
          <p:nvSpPr>
            <p:cNvPr id="5" name="object 5"/>
            <p:cNvSpPr/>
            <p:nvPr/>
          </p:nvSpPr>
          <p:spPr>
            <a:xfrm>
              <a:off x="561974" y="1314449"/>
              <a:ext cx="5076825" cy="1838325"/>
            </a:xfrm>
            <a:custGeom>
              <a:avLst/>
              <a:gdLst/>
              <a:ahLst/>
              <a:cxnLst/>
              <a:rect l="l" t="t" r="r" b="b"/>
              <a:pathLst>
                <a:path w="5076825" h="1838325">
                  <a:moveTo>
                    <a:pt x="5059396" y="1838324"/>
                  </a:moveTo>
                  <a:lnTo>
                    <a:pt x="17427" y="1838324"/>
                  </a:lnTo>
                  <a:lnTo>
                    <a:pt x="14864" y="1837814"/>
                  </a:lnTo>
                  <a:lnTo>
                    <a:pt x="0" y="1820897"/>
                  </a:lnTo>
                  <a:lnTo>
                    <a:pt x="0" y="1818233"/>
                  </a:lnTo>
                  <a:lnTo>
                    <a:pt x="0" y="17427"/>
                  </a:lnTo>
                  <a:lnTo>
                    <a:pt x="17427" y="0"/>
                  </a:lnTo>
                  <a:lnTo>
                    <a:pt x="5059396" y="0"/>
                  </a:lnTo>
                  <a:lnTo>
                    <a:pt x="5076824" y="17427"/>
                  </a:lnTo>
                  <a:lnTo>
                    <a:pt x="5076824" y="1820897"/>
                  </a:lnTo>
                  <a:lnTo>
                    <a:pt x="5061959" y="1837814"/>
                  </a:lnTo>
                  <a:lnTo>
                    <a:pt x="5059396" y="1838324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3899" y="1476374"/>
              <a:ext cx="485775" cy="476250"/>
            </a:xfrm>
            <a:custGeom>
              <a:avLst/>
              <a:gdLst/>
              <a:ahLst/>
              <a:cxnLst/>
              <a:rect l="l" t="t" r="r" b="b"/>
              <a:pathLst>
                <a:path w="485775" h="476250">
                  <a:moveTo>
                    <a:pt x="255448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8" y="363935"/>
                  </a:lnTo>
                  <a:lnTo>
                    <a:pt x="15141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8124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10" y="139792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55448" y="0"/>
                  </a:lnTo>
                  <a:lnTo>
                    <a:pt x="301754" y="6097"/>
                  </a:lnTo>
                  <a:lnTo>
                    <a:pt x="345981" y="21110"/>
                  </a:lnTo>
                  <a:lnTo>
                    <a:pt x="386429" y="44464"/>
                  </a:lnTo>
                  <a:lnTo>
                    <a:pt x="421544" y="75259"/>
                  </a:lnTo>
                  <a:lnTo>
                    <a:pt x="449976" y="112314"/>
                  </a:lnTo>
                  <a:lnTo>
                    <a:pt x="470633" y="154203"/>
                  </a:lnTo>
                  <a:lnTo>
                    <a:pt x="482720" y="199317"/>
                  </a:lnTo>
                  <a:lnTo>
                    <a:pt x="485775" y="230326"/>
                  </a:lnTo>
                  <a:lnTo>
                    <a:pt x="485775" y="245923"/>
                  </a:lnTo>
                  <a:lnTo>
                    <a:pt x="479677" y="292229"/>
                  </a:lnTo>
                  <a:lnTo>
                    <a:pt x="464664" y="336456"/>
                  </a:lnTo>
                  <a:lnTo>
                    <a:pt x="441310" y="376904"/>
                  </a:lnTo>
                  <a:lnTo>
                    <a:pt x="410515" y="412019"/>
                  </a:lnTo>
                  <a:lnTo>
                    <a:pt x="373460" y="440451"/>
                  </a:lnTo>
                  <a:lnTo>
                    <a:pt x="331571" y="461108"/>
                  </a:lnTo>
                  <a:lnTo>
                    <a:pt x="286456" y="473195"/>
                  </a:lnTo>
                  <a:lnTo>
                    <a:pt x="263228" y="475867"/>
                  </a:lnTo>
                  <a:lnTo>
                    <a:pt x="255448" y="476249"/>
                  </a:lnTo>
                  <a:close/>
                </a:path>
              </a:pathLst>
            </a:custGeom>
            <a:solidFill>
              <a:srgbClr val="FFB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2298" y="1605827"/>
              <a:ext cx="226873" cy="2248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0604" y="2087562"/>
            <a:ext cx="460692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225" dirty="0">
                <a:solidFill>
                  <a:srgbClr val="F4CAB8"/>
                </a:solidFill>
                <a:latin typeface="Cambria"/>
                <a:cs typeface="Cambria"/>
              </a:rPr>
              <a:t>Jmvm</a:t>
            </a:r>
            <a:r>
              <a:rPr sz="1650" b="1" spc="-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1T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Core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language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with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modern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F4CAB8"/>
                </a:solidFill>
                <a:latin typeface="Verdana"/>
                <a:cs typeface="Verdana"/>
              </a:rPr>
              <a:t>features,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strong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typing,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enterprise-grade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performance.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91198" y="1314449"/>
            <a:ext cx="5076825" cy="1838325"/>
            <a:chOff x="5791198" y="1314449"/>
            <a:chExt cx="5076825" cy="1838325"/>
          </a:xfrm>
        </p:grpSpPr>
        <p:sp>
          <p:nvSpPr>
            <p:cNvPr id="10" name="object 10"/>
            <p:cNvSpPr/>
            <p:nvPr/>
          </p:nvSpPr>
          <p:spPr>
            <a:xfrm>
              <a:off x="5791198" y="1314449"/>
              <a:ext cx="5076825" cy="1838325"/>
            </a:xfrm>
            <a:custGeom>
              <a:avLst/>
              <a:gdLst/>
              <a:ahLst/>
              <a:cxnLst/>
              <a:rect l="l" t="t" r="r" b="b"/>
              <a:pathLst>
                <a:path w="5076825" h="1838325">
                  <a:moveTo>
                    <a:pt x="5059397" y="1838324"/>
                  </a:moveTo>
                  <a:lnTo>
                    <a:pt x="17427" y="1838324"/>
                  </a:lnTo>
                  <a:lnTo>
                    <a:pt x="14864" y="1837814"/>
                  </a:lnTo>
                  <a:lnTo>
                    <a:pt x="0" y="1820897"/>
                  </a:lnTo>
                  <a:lnTo>
                    <a:pt x="0" y="1818233"/>
                  </a:lnTo>
                  <a:lnTo>
                    <a:pt x="0" y="17427"/>
                  </a:lnTo>
                  <a:lnTo>
                    <a:pt x="17427" y="0"/>
                  </a:lnTo>
                  <a:lnTo>
                    <a:pt x="5059397" y="0"/>
                  </a:lnTo>
                  <a:lnTo>
                    <a:pt x="5076824" y="17427"/>
                  </a:lnTo>
                  <a:lnTo>
                    <a:pt x="5076824" y="1820897"/>
                  </a:lnTo>
                  <a:lnTo>
                    <a:pt x="5061958" y="1837814"/>
                  </a:lnTo>
                  <a:lnTo>
                    <a:pt x="5059397" y="1838324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53124" y="1476374"/>
              <a:ext cx="485775" cy="476250"/>
            </a:xfrm>
            <a:custGeom>
              <a:avLst/>
              <a:gdLst/>
              <a:ahLst/>
              <a:cxnLst/>
              <a:rect l="l" t="t" r="r" b="b"/>
              <a:pathLst>
                <a:path w="485775" h="476250">
                  <a:moveTo>
                    <a:pt x="255448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7" y="363935"/>
                  </a:lnTo>
                  <a:lnTo>
                    <a:pt x="15142" y="322045"/>
                  </a:lnTo>
                  <a:lnTo>
                    <a:pt x="3054" y="276931"/>
                  </a:lnTo>
                  <a:lnTo>
                    <a:pt x="0" y="238124"/>
                  </a:lnTo>
                  <a:lnTo>
                    <a:pt x="0" y="230326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3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55448" y="0"/>
                  </a:lnTo>
                  <a:lnTo>
                    <a:pt x="301754" y="6097"/>
                  </a:lnTo>
                  <a:lnTo>
                    <a:pt x="345981" y="21110"/>
                  </a:lnTo>
                  <a:lnTo>
                    <a:pt x="386429" y="44464"/>
                  </a:lnTo>
                  <a:lnTo>
                    <a:pt x="421543" y="75259"/>
                  </a:lnTo>
                  <a:lnTo>
                    <a:pt x="449976" y="112314"/>
                  </a:lnTo>
                  <a:lnTo>
                    <a:pt x="470632" y="154203"/>
                  </a:lnTo>
                  <a:lnTo>
                    <a:pt x="482720" y="199317"/>
                  </a:lnTo>
                  <a:lnTo>
                    <a:pt x="485775" y="230326"/>
                  </a:lnTo>
                  <a:lnTo>
                    <a:pt x="485775" y="245923"/>
                  </a:lnTo>
                  <a:lnTo>
                    <a:pt x="479677" y="292229"/>
                  </a:lnTo>
                  <a:lnTo>
                    <a:pt x="464663" y="336456"/>
                  </a:lnTo>
                  <a:lnTo>
                    <a:pt x="441310" y="376904"/>
                  </a:lnTo>
                  <a:lnTo>
                    <a:pt x="410514" y="412019"/>
                  </a:lnTo>
                  <a:lnTo>
                    <a:pt x="373460" y="440451"/>
                  </a:lnTo>
                  <a:lnTo>
                    <a:pt x="331571" y="461108"/>
                  </a:lnTo>
                  <a:lnTo>
                    <a:pt x="286456" y="473195"/>
                  </a:lnTo>
                  <a:lnTo>
                    <a:pt x="255448" y="476249"/>
                  </a:lnTo>
                  <a:close/>
                </a:path>
              </a:pathLst>
            </a:custGeom>
            <a:solidFill>
              <a:srgbClr val="FFB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4717" y="1609724"/>
              <a:ext cx="120516" cy="21699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943401" y="2087562"/>
            <a:ext cx="390461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0" dirty="0">
                <a:solidFill>
                  <a:srgbClr val="F4CAB8"/>
                </a:solidFill>
                <a:latin typeface="Cambria"/>
                <a:cs typeface="Cambria"/>
              </a:rPr>
              <a:t>Spíing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45" dirty="0">
                <a:solidFill>
                  <a:srgbClr val="F4CAB8"/>
                </a:solidFill>
                <a:latin typeface="Cambria"/>
                <a:cs typeface="Cambria"/>
              </a:rPr>
              <a:t>Boot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Rapid</a:t>
            </a:r>
            <a:r>
              <a:rPr sz="1250" spc="9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application</a:t>
            </a:r>
            <a:r>
              <a:rPr sz="1250" spc="10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development</a:t>
            </a:r>
            <a:r>
              <a:rPr sz="1250" spc="10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with</a:t>
            </a:r>
            <a:r>
              <a:rPr sz="1250" spc="10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REST</a:t>
            </a:r>
            <a:r>
              <a:rPr sz="1250" spc="10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APIs, 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dependency</a:t>
            </a:r>
            <a:r>
              <a:rPr sz="125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injection,</a:t>
            </a:r>
            <a:r>
              <a:rPr sz="125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auto-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configuration.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1974" y="3314699"/>
            <a:ext cx="5076825" cy="1847850"/>
            <a:chOff x="561974" y="3314699"/>
            <a:chExt cx="5076825" cy="1847850"/>
          </a:xfrm>
        </p:grpSpPr>
        <p:sp>
          <p:nvSpPr>
            <p:cNvPr id="15" name="object 15"/>
            <p:cNvSpPr/>
            <p:nvPr/>
          </p:nvSpPr>
          <p:spPr>
            <a:xfrm>
              <a:off x="561974" y="3314699"/>
              <a:ext cx="5076825" cy="1847850"/>
            </a:xfrm>
            <a:custGeom>
              <a:avLst/>
              <a:gdLst/>
              <a:ahLst/>
              <a:cxnLst/>
              <a:rect l="l" t="t" r="r" b="b"/>
              <a:pathLst>
                <a:path w="5076825" h="1847850">
                  <a:moveTo>
                    <a:pt x="5059396" y="1847849"/>
                  </a:moveTo>
                  <a:lnTo>
                    <a:pt x="17427" y="1847849"/>
                  </a:lnTo>
                  <a:lnTo>
                    <a:pt x="14864" y="1847339"/>
                  </a:lnTo>
                  <a:lnTo>
                    <a:pt x="0" y="1830421"/>
                  </a:lnTo>
                  <a:lnTo>
                    <a:pt x="0" y="1827758"/>
                  </a:lnTo>
                  <a:lnTo>
                    <a:pt x="0" y="17427"/>
                  </a:lnTo>
                  <a:lnTo>
                    <a:pt x="17427" y="0"/>
                  </a:lnTo>
                  <a:lnTo>
                    <a:pt x="5059396" y="0"/>
                  </a:lnTo>
                  <a:lnTo>
                    <a:pt x="5076824" y="17427"/>
                  </a:lnTo>
                  <a:lnTo>
                    <a:pt x="5076824" y="1830421"/>
                  </a:lnTo>
                  <a:lnTo>
                    <a:pt x="5061959" y="1847339"/>
                  </a:lnTo>
                  <a:lnTo>
                    <a:pt x="5059396" y="1847849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899" y="3476624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842" y="485774"/>
                  </a:moveTo>
                  <a:lnTo>
                    <a:pt x="234932" y="485774"/>
                  </a:lnTo>
                  <a:lnTo>
                    <a:pt x="226996" y="485384"/>
                  </a:lnTo>
                  <a:lnTo>
                    <a:pt x="187700" y="479555"/>
                  </a:lnTo>
                  <a:lnTo>
                    <a:pt x="142589" y="464241"/>
                  </a:lnTo>
                  <a:lnTo>
                    <a:pt x="101332" y="440420"/>
                  </a:lnTo>
                  <a:lnTo>
                    <a:pt x="65515" y="409008"/>
                  </a:lnTo>
                  <a:lnTo>
                    <a:pt x="36514" y="371213"/>
                  </a:lnTo>
                  <a:lnTo>
                    <a:pt x="15444" y="328486"/>
                  </a:lnTo>
                  <a:lnTo>
                    <a:pt x="3114" y="282469"/>
                  </a:lnTo>
                  <a:lnTo>
                    <a:pt x="0" y="250842"/>
                  </a:lnTo>
                  <a:lnTo>
                    <a:pt x="0" y="234932"/>
                  </a:lnTo>
                  <a:lnTo>
                    <a:pt x="6218" y="187699"/>
                  </a:lnTo>
                  <a:lnTo>
                    <a:pt x="21532" y="142588"/>
                  </a:lnTo>
                  <a:lnTo>
                    <a:pt x="45353" y="101331"/>
                  </a:lnTo>
                  <a:lnTo>
                    <a:pt x="76765" y="65514"/>
                  </a:lnTo>
                  <a:lnTo>
                    <a:pt x="114560" y="36514"/>
                  </a:lnTo>
                  <a:lnTo>
                    <a:pt x="157287" y="15444"/>
                  </a:lnTo>
                  <a:lnTo>
                    <a:pt x="203304" y="3114"/>
                  </a:lnTo>
                  <a:lnTo>
                    <a:pt x="234932" y="0"/>
                  </a:lnTo>
                  <a:lnTo>
                    <a:pt x="250842" y="0"/>
                  </a:lnTo>
                  <a:lnTo>
                    <a:pt x="298074" y="6218"/>
                  </a:lnTo>
                  <a:lnTo>
                    <a:pt x="343185" y="21532"/>
                  </a:lnTo>
                  <a:lnTo>
                    <a:pt x="384442" y="45353"/>
                  </a:lnTo>
                  <a:lnTo>
                    <a:pt x="420259" y="76764"/>
                  </a:lnTo>
                  <a:lnTo>
                    <a:pt x="449260" y="114560"/>
                  </a:lnTo>
                  <a:lnTo>
                    <a:pt x="470330" y="157287"/>
                  </a:lnTo>
                  <a:lnTo>
                    <a:pt x="482659" y="203303"/>
                  </a:lnTo>
                  <a:lnTo>
                    <a:pt x="485775" y="234932"/>
                  </a:lnTo>
                  <a:lnTo>
                    <a:pt x="485774" y="242887"/>
                  </a:lnTo>
                  <a:lnTo>
                    <a:pt x="485775" y="250842"/>
                  </a:lnTo>
                  <a:lnTo>
                    <a:pt x="479555" y="298073"/>
                  </a:lnTo>
                  <a:lnTo>
                    <a:pt x="464241" y="343184"/>
                  </a:lnTo>
                  <a:lnTo>
                    <a:pt x="440421" y="384441"/>
                  </a:lnTo>
                  <a:lnTo>
                    <a:pt x="409009" y="420258"/>
                  </a:lnTo>
                  <a:lnTo>
                    <a:pt x="371214" y="449259"/>
                  </a:lnTo>
                  <a:lnTo>
                    <a:pt x="328487" y="470329"/>
                  </a:lnTo>
                  <a:lnTo>
                    <a:pt x="282470" y="482659"/>
                  </a:lnTo>
                  <a:lnTo>
                    <a:pt x="258778" y="485384"/>
                  </a:lnTo>
                  <a:lnTo>
                    <a:pt x="250842" y="485774"/>
                  </a:lnTo>
                  <a:close/>
                </a:path>
              </a:pathLst>
            </a:custGeom>
            <a:solidFill>
              <a:srgbClr val="FFB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1925" y="3605174"/>
              <a:ext cx="207639" cy="22656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0604" y="4097337"/>
            <a:ext cx="433260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70" dirty="0">
                <a:solidFill>
                  <a:srgbClr val="F4CAB8"/>
                </a:solidFill>
                <a:latin typeface="Cambria"/>
                <a:cs typeface="Cambria"/>
              </a:rPr>
              <a:t>M?S0L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120" dirty="0">
                <a:solidFill>
                  <a:srgbClr val="F4CAB8"/>
                </a:solidFill>
                <a:latin typeface="Cambria"/>
                <a:cs typeface="Cambria"/>
              </a:rPr>
              <a:t>=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35" dirty="0">
                <a:solidFill>
                  <a:srgbClr val="F4CAB8"/>
                </a:solidFill>
                <a:latin typeface="Cambria"/>
                <a:cs typeface="Cambria"/>
              </a:rPr>
              <a:t>Hibcínmtc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Reliable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persistence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with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JPA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85" dirty="0">
                <a:solidFill>
                  <a:srgbClr val="F4CAB8"/>
                </a:solidFill>
                <a:latin typeface="Verdana"/>
                <a:cs typeface="Verdana"/>
              </a:rPr>
              <a:t>ORM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seamless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Java-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to-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database</a:t>
            </a:r>
            <a:r>
              <a:rPr sz="1250" spc="10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mapping.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91198" y="3314699"/>
            <a:ext cx="5076825" cy="1847850"/>
            <a:chOff x="5791198" y="3314699"/>
            <a:chExt cx="5076825" cy="1847850"/>
          </a:xfrm>
        </p:grpSpPr>
        <p:sp>
          <p:nvSpPr>
            <p:cNvPr id="20" name="object 20"/>
            <p:cNvSpPr/>
            <p:nvPr/>
          </p:nvSpPr>
          <p:spPr>
            <a:xfrm>
              <a:off x="5791198" y="3314699"/>
              <a:ext cx="5076825" cy="1847850"/>
            </a:xfrm>
            <a:custGeom>
              <a:avLst/>
              <a:gdLst/>
              <a:ahLst/>
              <a:cxnLst/>
              <a:rect l="l" t="t" r="r" b="b"/>
              <a:pathLst>
                <a:path w="5076825" h="1847850">
                  <a:moveTo>
                    <a:pt x="5059397" y="1847849"/>
                  </a:moveTo>
                  <a:lnTo>
                    <a:pt x="17427" y="1847849"/>
                  </a:lnTo>
                  <a:lnTo>
                    <a:pt x="14864" y="1847339"/>
                  </a:lnTo>
                  <a:lnTo>
                    <a:pt x="0" y="1830421"/>
                  </a:lnTo>
                  <a:lnTo>
                    <a:pt x="0" y="1827758"/>
                  </a:lnTo>
                  <a:lnTo>
                    <a:pt x="0" y="17427"/>
                  </a:lnTo>
                  <a:lnTo>
                    <a:pt x="17427" y="0"/>
                  </a:lnTo>
                  <a:lnTo>
                    <a:pt x="5059397" y="0"/>
                  </a:lnTo>
                  <a:lnTo>
                    <a:pt x="5076824" y="17427"/>
                  </a:lnTo>
                  <a:lnTo>
                    <a:pt x="5076824" y="1830421"/>
                  </a:lnTo>
                  <a:lnTo>
                    <a:pt x="5061958" y="1847339"/>
                  </a:lnTo>
                  <a:lnTo>
                    <a:pt x="5059397" y="1847849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3124" y="3476624"/>
              <a:ext cx="485775" cy="485775"/>
            </a:xfrm>
            <a:custGeom>
              <a:avLst/>
              <a:gdLst/>
              <a:ahLst/>
              <a:cxnLst/>
              <a:rect l="l" t="t" r="r" b="b"/>
              <a:pathLst>
                <a:path w="485775" h="485775">
                  <a:moveTo>
                    <a:pt x="250841" y="485774"/>
                  </a:moveTo>
                  <a:lnTo>
                    <a:pt x="234932" y="485774"/>
                  </a:lnTo>
                  <a:lnTo>
                    <a:pt x="226996" y="485384"/>
                  </a:lnTo>
                  <a:lnTo>
                    <a:pt x="187699" y="479555"/>
                  </a:lnTo>
                  <a:lnTo>
                    <a:pt x="142588" y="464241"/>
                  </a:lnTo>
                  <a:lnTo>
                    <a:pt x="101331" y="440420"/>
                  </a:lnTo>
                  <a:lnTo>
                    <a:pt x="65514" y="409008"/>
                  </a:lnTo>
                  <a:lnTo>
                    <a:pt x="36514" y="371213"/>
                  </a:lnTo>
                  <a:lnTo>
                    <a:pt x="15444" y="328486"/>
                  </a:lnTo>
                  <a:lnTo>
                    <a:pt x="3114" y="282469"/>
                  </a:lnTo>
                  <a:lnTo>
                    <a:pt x="0" y="250842"/>
                  </a:lnTo>
                  <a:lnTo>
                    <a:pt x="0" y="234932"/>
                  </a:lnTo>
                  <a:lnTo>
                    <a:pt x="6218" y="187699"/>
                  </a:lnTo>
                  <a:lnTo>
                    <a:pt x="21532" y="142588"/>
                  </a:lnTo>
                  <a:lnTo>
                    <a:pt x="45353" y="101331"/>
                  </a:lnTo>
                  <a:lnTo>
                    <a:pt x="76763" y="65514"/>
                  </a:lnTo>
                  <a:lnTo>
                    <a:pt x="114559" y="36514"/>
                  </a:lnTo>
                  <a:lnTo>
                    <a:pt x="157286" y="15444"/>
                  </a:lnTo>
                  <a:lnTo>
                    <a:pt x="203303" y="3114"/>
                  </a:lnTo>
                  <a:lnTo>
                    <a:pt x="234932" y="0"/>
                  </a:lnTo>
                  <a:lnTo>
                    <a:pt x="250841" y="0"/>
                  </a:lnTo>
                  <a:lnTo>
                    <a:pt x="298073" y="6218"/>
                  </a:lnTo>
                  <a:lnTo>
                    <a:pt x="343184" y="21532"/>
                  </a:lnTo>
                  <a:lnTo>
                    <a:pt x="384441" y="45353"/>
                  </a:lnTo>
                  <a:lnTo>
                    <a:pt x="420259" y="76764"/>
                  </a:lnTo>
                  <a:lnTo>
                    <a:pt x="449259" y="114560"/>
                  </a:lnTo>
                  <a:lnTo>
                    <a:pt x="470329" y="157287"/>
                  </a:lnTo>
                  <a:lnTo>
                    <a:pt x="482658" y="203303"/>
                  </a:lnTo>
                  <a:lnTo>
                    <a:pt x="485774" y="234932"/>
                  </a:lnTo>
                  <a:lnTo>
                    <a:pt x="485774" y="242887"/>
                  </a:lnTo>
                  <a:lnTo>
                    <a:pt x="485774" y="250842"/>
                  </a:lnTo>
                  <a:lnTo>
                    <a:pt x="479555" y="298073"/>
                  </a:lnTo>
                  <a:lnTo>
                    <a:pt x="464240" y="343184"/>
                  </a:lnTo>
                  <a:lnTo>
                    <a:pt x="440420" y="384441"/>
                  </a:lnTo>
                  <a:lnTo>
                    <a:pt x="409009" y="420258"/>
                  </a:lnTo>
                  <a:lnTo>
                    <a:pt x="371212" y="449259"/>
                  </a:lnTo>
                  <a:lnTo>
                    <a:pt x="328485" y="470329"/>
                  </a:lnTo>
                  <a:lnTo>
                    <a:pt x="282469" y="482659"/>
                  </a:lnTo>
                  <a:lnTo>
                    <a:pt x="258777" y="485384"/>
                  </a:lnTo>
                  <a:lnTo>
                    <a:pt x="250841" y="485774"/>
                  </a:lnTo>
                  <a:close/>
                </a:path>
              </a:pathLst>
            </a:custGeom>
            <a:solidFill>
              <a:srgbClr val="FFB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1250" y="3605169"/>
              <a:ext cx="187440" cy="2266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943401" y="4097337"/>
            <a:ext cx="422846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20" dirty="0">
                <a:solidFill>
                  <a:srgbClr val="F4CAB8"/>
                </a:solidFill>
                <a:latin typeface="Cambria"/>
                <a:cs typeface="Cambria"/>
              </a:rPr>
              <a:t>Spíing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114" dirty="0">
                <a:solidFill>
                  <a:srgbClr val="F4CAB8"/>
                </a:solidFill>
                <a:latin typeface="Cambria"/>
                <a:cs typeface="Cambria"/>
              </a:rPr>
              <a:t>Sccuíit?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Role-based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access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control,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JWT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authentication,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encrypted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transmission.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1974" y="5343524"/>
            <a:ext cx="10306050" cy="638175"/>
            <a:chOff x="561974" y="5343524"/>
            <a:chExt cx="10306050" cy="638175"/>
          </a:xfrm>
        </p:grpSpPr>
        <p:sp>
          <p:nvSpPr>
            <p:cNvPr id="25" name="object 25"/>
            <p:cNvSpPr/>
            <p:nvPr/>
          </p:nvSpPr>
          <p:spPr>
            <a:xfrm>
              <a:off x="561974" y="5343524"/>
              <a:ext cx="10306050" cy="638175"/>
            </a:xfrm>
            <a:custGeom>
              <a:avLst/>
              <a:gdLst/>
              <a:ahLst/>
              <a:cxnLst/>
              <a:rect l="l" t="t" r="r" b="b"/>
              <a:pathLst>
                <a:path w="10306050" h="638175">
                  <a:moveTo>
                    <a:pt x="10288621" y="638174"/>
                  </a:moveTo>
                  <a:lnTo>
                    <a:pt x="17427" y="638174"/>
                  </a:lnTo>
                  <a:lnTo>
                    <a:pt x="14864" y="637664"/>
                  </a:lnTo>
                  <a:lnTo>
                    <a:pt x="0" y="620746"/>
                  </a:lnTo>
                  <a:lnTo>
                    <a:pt x="0" y="618083"/>
                  </a:lnTo>
                  <a:lnTo>
                    <a:pt x="0" y="17427"/>
                  </a:lnTo>
                  <a:lnTo>
                    <a:pt x="17427" y="0"/>
                  </a:lnTo>
                  <a:lnTo>
                    <a:pt x="10288621" y="0"/>
                  </a:lnTo>
                  <a:lnTo>
                    <a:pt x="10306048" y="17427"/>
                  </a:lnTo>
                  <a:lnTo>
                    <a:pt x="10306048" y="620746"/>
                  </a:lnTo>
                  <a:lnTo>
                    <a:pt x="10291182" y="637664"/>
                  </a:lnTo>
                  <a:lnTo>
                    <a:pt x="10288621" y="638174"/>
                  </a:lnTo>
                  <a:close/>
                </a:path>
              </a:pathLst>
            </a:custGeom>
            <a:solidFill>
              <a:srgbClr val="802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037" y="5582170"/>
              <a:ext cx="140642" cy="14064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072257" y="5551137"/>
            <a:ext cx="7695565" cy="218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stack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fully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open-</a:t>
            </a:r>
            <a:r>
              <a:rPr sz="1250" spc="-10" dirty="0">
                <a:solidFill>
                  <a:srgbClr val="FFFFFF"/>
                </a:solidFill>
                <a:latin typeface="Verdana"/>
                <a:cs typeface="Verdana"/>
              </a:rPr>
              <a:t>source,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reducing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licensing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costs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while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maintaining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FFFFF"/>
                </a:solidFill>
                <a:latin typeface="Verdana"/>
                <a:cs typeface="Verdana"/>
              </a:rPr>
              <a:t>enterprise</a:t>
            </a:r>
            <a:r>
              <a:rPr sz="1250" spc="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FFFFF"/>
                </a:solidFill>
                <a:latin typeface="Verdana"/>
                <a:cs typeface="Verdana"/>
              </a:rPr>
              <a:t>reliability.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981825"/>
          </a:xfrm>
          <a:custGeom>
            <a:avLst/>
            <a:gdLst/>
            <a:ahLst/>
            <a:cxnLst/>
            <a:rect l="l" t="t" r="r" b="b"/>
            <a:pathLst>
              <a:path w="11430000" h="6981825">
                <a:moveTo>
                  <a:pt x="11429999" y="6981824"/>
                </a:moveTo>
                <a:lnTo>
                  <a:pt x="0" y="69818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981824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9" dirty="0"/>
              <a:t>Sccuíit?</a:t>
            </a:r>
            <a:r>
              <a:rPr spc="-50" dirty="0"/>
              <a:t> </a:t>
            </a:r>
            <a:r>
              <a:rPr spc="170" dirty="0"/>
              <a:t>&amp;</a:t>
            </a:r>
            <a:r>
              <a:rPr spc="-50" dirty="0"/>
              <a:t> </a:t>
            </a:r>
            <a:r>
              <a:rPr spc="-455" dirty="0"/>
              <a:t>Dmtm</a:t>
            </a:r>
            <a:r>
              <a:rPr spc="-50" dirty="0"/>
              <a:t> </a:t>
            </a:r>
            <a:r>
              <a:rPr spc="-10" dirty="0"/>
              <a:t>Píivmc?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1400174"/>
            <a:ext cx="4952999" cy="49529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953124" y="3886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9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69" y="0"/>
                </a:lnTo>
                <a:lnTo>
                  <a:pt x="47624" y="20654"/>
                </a:lnTo>
                <a:lnTo>
                  <a:pt x="47624" y="23812"/>
                </a:lnTo>
                <a:lnTo>
                  <a:pt x="47624" y="26969"/>
                </a:lnTo>
                <a:lnTo>
                  <a:pt x="30007" y="47020"/>
                </a:lnTo>
                <a:lnTo>
                  <a:pt x="26969" y="47624"/>
                </a:lnTo>
                <a:close/>
              </a:path>
            </a:pathLst>
          </a:custGeom>
          <a:solidFill>
            <a:srgbClr val="F4CA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53124" y="4457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9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69" y="0"/>
                </a:lnTo>
                <a:lnTo>
                  <a:pt x="47624" y="20654"/>
                </a:lnTo>
                <a:lnTo>
                  <a:pt x="47624" y="23812"/>
                </a:lnTo>
                <a:lnTo>
                  <a:pt x="47624" y="26969"/>
                </a:lnTo>
                <a:lnTo>
                  <a:pt x="30007" y="47020"/>
                </a:lnTo>
                <a:lnTo>
                  <a:pt x="26969" y="47624"/>
                </a:lnTo>
                <a:close/>
              </a:path>
            </a:pathLst>
          </a:custGeom>
          <a:solidFill>
            <a:srgbClr val="F4CA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53124" y="5029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69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69" y="0"/>
                </a:lnTo>
                <a:lnTo>
                  <a:pt x="47624" y="20654"/>
                </a:lnTo>
                <a:lnTo>
                  <a:pt x="47624" y="23812"/>
                </a:lnTo>
                <a:lnTo>
                  <a:pt x="47624" y="26969"/>
                </a:lnTo>
                <a:lnTo>
                  <a:pt x="30007" y="47020"/>
                </a:lnTo>
                <a:lnTo>
                  <a:pt x="26969" y="47624"/>
                </a:lnTo>
                <a:close/>
              </a:path>
            </a:pathLst>
          </a:custGeom>
          <a:solidFill>
            <a:srgbClr val="F4CA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pc="95" dirty="0"/>
              <a:t>Píotccting</a:t>
            </a:r>
            <a:r>
              <a:rPr spc="-20" dirty="0"/>
              <a:t> </a:t>
            </a:r>
            <a:r>
              <a:rPr spc="75" dirty="0"/>
              <a:t>Scnsitivc</a:t>
            </a:r>
            <a:r>
              <a:rPr spc="-20" dirty="0"/>
              <a:t> </a:t>
            </a:r>
            <a:r>
              <a:rPr spc="-10" dirty="0"/>
              <a:t>Hcmlth</a:t>
            </a:r>
            <a:r>
              <a:rPr spc="-20" dirty="0"/>
              <a:t> Dmtm</a:t>
            </a:r>
          </a:p>
          <a:p>
            <a:pPr marL="12700" marR="5080" algn="just">
              <a:lnSpc>
                <a:spcPct val="135000"/>
              </a:lnSpc>
              <a:spcBef>
                <a:spcPts val="1120"/>
              </a:spcBef>
            </a:pPr>
            <a:r>
              <a:rPr sz="1250" b="0" spc="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b="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donor</a:t>
            </a:r>
            <a:r>
              <a:rPr sz="1250" b="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b="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patient</a:t>
            </a:r>
            <a:r>
              <a:rPr sz="1250" b="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b="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is</a:t>
            </a:r>
            <a:r>
              <a:rPr sz="1250" b="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highly</a:t>
            </a:r>
            <a:r>
              <a:rPr sz="1250" b="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sensitive.</a:t>
            </a:r>
            <a:r>
              <a:rPr sz="1250" b="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b="0" spc="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system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enforces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strict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access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controls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complies</a:t>
            </a:r>
            <a:r>
              <a:rPr sz="1250" b="0" spc="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50" dirty="0">
                <a:solidFill>
                  <a:srgbClr val="F4CAB8"/>
                </a:solidFill>
                <a:latin typeface="Verdana"/>
                <a:cs typeface="Verdana"/>
              </a:rPr>
              <a:t>with</a:t>
            </a:r>
            <a:r>
              <a:rPr sz="1250" b="0" spc="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healthcare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b="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regulations.</a:t>
            </a:r>
            <a:endParaRPr sz="1250">
              <a:latin typeface="Verdana"/>
              <a:cs typeface="Verdana"/>
            </a:endParaRPr>
          </a:p>
          <a:p>
            <a:pPr marL="269240" marR="214629">
              <a:lnSpc>
                <a:spcPct val="135000"/>
              </a:lnSpc>
              <a:spcBef>
                <a:spcPts val="1125"/>
              </a:spcBef>
            </a:pPr>
            <a:r>
              <a:rPr sz="1250" spc="-65" dirty="0">
                <a:solidFill>
                  <a:srgbClr val="F4CAB8"/>
                </a:solidFill>
                <a:latin typeface="Verdana"/>
                <a:cs typeface="Verdana"/>
              </a:rPr>
              <a:t>Role-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Based</a:t>
            </a:r>
            <a:r>
              <a:rPr sz="1250" spc="5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60" dirty="0">
                <a:solidFill>
                  <a:srgbClr val="F4CAB8"/>
                </a:solidFill>
                <a:latin typeface="Verdana"/>
                <a:cs typeface="Verdana"/>
              </a:rPr>
              <a:t>Access: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Admins,</a:t>
            </a:r>
            <a:r>
              <a:rPr sz="1250" b="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medical</a:t>
            </a:r>
            <a:r>
              <a:rPr sz="1250" b="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staff,</a:t>
            </a:r>
            <a:r>
              <a:rPr sz="1250" b="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b="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donors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see</a:t>
            </a:r>
            <a:r>
              <a:rPr sz="1250" b="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only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what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they</a:t>
            </a:r>
            <a:r>
              <a:rPr sz="1250" b="0" spc="-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should.</a:t>
            </a:r>
            <a:endParaRPr sz="1250">
              <a:latin typeface="Verdana"/>
              <a:cs typeface="Verdana"/>
            </a:endParaRPr>
          </a:p>
          <a:p>
            <a:pPr marL="269240" marR="171450">
              <a:lnSpc>
                <a:spcPct val="135000"/>
              </a:lnSpc>
              <a:spcBef>
                <a:spcPts val="450"/>
              </a:spcBef>
            </a:pPr>
            <a:r>
              <a:rPr sz="1250" spc="-45" dirty="0">
                <a:solidFill>
                  <a:srgbClr val="F4CAB8"/>
                </a:solidFill>
                <a:latin typeface="Verdana"/>
                <a:cs typeface="Verdana"/>
              </a:rPr>
              <a:t>End-</a:t>
            </a:r>
            <a:r>
              <a:rPr sz="1250" spc="-75" dirty="0">
                <a:solidFill>
                  <a:srgbClr val="F4CAB8"/>
                </a:solidFill>
                <a:latin typeface="Verdana"/>
                <a:cs typeface="Verdana"/>
              </a:rPr>
              <a:t>to-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End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50" dirty="0">
                <a:solidFill>
                  <a:srgbClr val="F4CAB8"/>
                </a:solidFill>
                <a:latin typeface="Verdana"/>
                <a:cs typeface="Verdana"/>
              </a:rPr>
              <a:t>Encryption: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All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in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transit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at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rest</a:t>
            </a:r>
            <a:r>
              <a:rPr sz="1250" b="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25" dirty="0">
                <a:solidFill>
                  <a:srgbClr val="F4CAB8"/>
                </a:solidFill>
                <a:latin typeface="Verdana"/>
                <a:cs typeface="Verdana"/>
              </a:rPr>
              <a:t>is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encrypted.</a:t>
            </a:r>
            <a:endParaRPr sz="1250">
              <a:latin typeface="Verdana"/>
              <a:cs typeface="Verdana"/>
            </a:endParaRPr>
          </a:p>
          <a:p>
            <a:pPr marL="269240" marR="9525">
              <a:lnSpc>
                <a:spcPct val="135000"/>
              </a:lnSpc>
              <a:spcBef>
                <a:spcPts val="450"/>
              </a:spcBef>
            </a:pP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Audit</a:t>
            </a:r>
            <a:r>
              <a:rPr sz="1250" spc="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95" dirty="0">
                <a:solidFill>
                  <a:srgbClr val="F4CAB8"/>
                </a:solidFill>
                <a:latin typeface="Verdana"/>
                <a:cs typeface="Verdana"/>
              </a:rPr>
              <a:t>Trails: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Every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action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is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50" dirty="0">
                <a:solidFill>
                  <a:srgbClr val="F4CAB8"/>
                </a:solidFill>
                <a:latin typeface="Verdana"/>
                <a:cs typeface="Verdana"/>
              </a:rPr>
              <a:t>logged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b="0" spc="-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accountability</a:t>
            </a:r>
            <a:r>
              <a:rPr sz="1250" b="0" spc="-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compliance.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77300"/>
          </a:xfrm>
          <a:custGeom>
            <a:avLst/>
            <a:gdLst/>
            <a:ahLst/>
            <a:cxnLst/>
            <a:rect l="l" t="t" r="r" b="b"/>
            <a:pathLst>
              <a:path w="11430000" h="8877300">
                <a:moveTo>
                  <a:pt x="11429999" y="8877299"/>
                </a:moveTo>
                <a:lnTo>
                  <a:pt x="0" y="88772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8877299"/>
                </a:lnTo>
                <a:close/>
              </a:path>
            </a:pathLst>
          </a:custGeom>
          <a:solidFill>
            <a:srgbClr val="5C24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49" cy="88772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98315">
              <a:lnSpc>
                <a:spcPct val="100000"/>
              </a:lnSpc>
              <a:spcBef>
                <a:spcPts val="125"/>
              </a:spcBef>
            </a:pPr>
            <a:r>
              <a:rPr spc="100" dirty="0"/>
              <a:t>Benefits</a:t>
            </a:r>
            <a:r>
              <a:rPr spc="-65" dirty="0"/>
              <a:t> </a:t>
            </a:r>
            <a:r>
              <a:rPr spc="170" dirty="0"/>
              <a:t>&amp;</a:t>
            </a:r>
            <a:r>
              <a:rPr spc="-60" dirty="0"/>
              <a:t> </a:t>
            </a:r>
            <a:r>
              <a:rPr spc="130" dirty="0"/>
              <a:t>Impact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90591" y="1200023"/>
            <a:ext cx="5935345" cy="71983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4150" b="1" spc="-25" dirty="0">
                <a:solidFill>
                  <a:srgbClr val="F4CAB8"/>
                </a:solidFill>
                <a:latin typeface="Cambria"/>
                <a:cs typeface="Cambria"/>
              </a:rPr>
              <a:t>T0%</a:t>
            </a:r>
            <a:endParaRPr sz="41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345"/>
              </a:spcBef>
            </a:pPr>
            <a:r>
              <a:rPr sz="1650" b="1" dirty="0">
                <a:solidFill>
                  <a:srgbClr val="F4CAB8"/>
                </a:solidFill>
                <a:latin typeface="Cambria"/>
                <a:cs typeface="Cambria"/>
              </a:rPr>
              <a:t>Fmstcí</a:t>
            </a:r>
            <a:r>
              <a:rPr sz="1650" b="1" spc="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F4CAB8"/>
                </a:solidFill>
                <a:latin typeface="Cambria"/>
                <a:cs typeface="Cambria"/>
              </a:rPr>
              <a:t>6llocmtion</a:t>
            </a:r>
            <a:endParaRPr sz="1650">
              <a:latin typeface="Cambria"/>
              <a:cs typeface="Cambria"/>
            </a:endParaRPr>
          </a:p>
          <a:p>
            <a:pPr marL="512445" marR="504825" algn="ctr">
              <a:lnSpc>
                <a:spcPct val="135000"/>
              </a:lnSpc>
              <a:spcBef>
                <a:spcPts val="670"/>
              </a:spcBef>
            </a:pP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Reduction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time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to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match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dispatch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units</a:t>
            </a:r>
            <a:r>
              <a:rPr sz="1250" spc="2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during emergencies.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4150" b="1" spc="-25" dirty="0">
                <a:solidFill>
                  <a:srgbClr val="F4CAB8"/>
                </a:solidFill>
                <a:latin typeface="Cambria"/>
                <a:cs typeface="Cambria"/>
              </a:rPr>
              <a:t>40%</a:t>
            </a:r>
            <a:endParaRPr sz="41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1650" b="1" spc="75" dirty="0">
                <a:solidFill>
                  <a:srgbClr val="F4CAB8"/>
                </a:solidFill>
                <a:latin typeface="Cambria"/>
                <a:cs typeface="Cambria"/>
              </a:rPr>
              <a:t>Lcss</a:t>
            </a:r>
            <a:r>
              <a:rPr sz="1650" b="1" spc="-2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F4CAB8"/>
                </a:solidFill>
                <a:latin typeface="Cambria"/>
                <a:cs typeface="Cambria"/>
              </a:rPr>
              <a:t>Wmstmgc</a:t>
            </a:r>
            <a:endParaRPr sz="1650">
              <a:latin typeface="Cambria"/>
              <a:cs typeface="Cambria"/>
            </a:endParaRPr>
          </a:p>
          <a:p>
            <a:pPr marL="78105" marR="70485" algn="ctr">
              <a:lnSpc>
                <a:spcPct val="135000"/>
              </a:lnSpc>
              <a:spcBef>
                <a:spcPts val="595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Decrease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expired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units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through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intelligent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expiry</a:t>
            </a:r>
            <a:r>
              <a:rPr sz="125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tracking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alerts.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4150" b="1" spc="565" dirty="0">
                <a:solidFill>
                  <a:srgbClr val="F4CAB8"/>
                </a:solidFill>
                <a:latin typeface="Cambria"/>
                <a:cs typeface="Cambria"/>
              </a:rPr>
              <a:t>tt%</a:t>
            </a:r>
            <a:endParaRPr sz="41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1650" b="1" spc="-210" dirty="0">
                <a:solidFill>
                  <a:srgbClr val="F4CAB8"/>
                </a:solidFill>
                <a:latin typeface="Cambria"/>
                <a:cs typeface="Cambria"/>
              </a:rPr>
              <a:t>Dmtm</a:t>
            </a:r>
            <a:r>
              <a:rPr sz="1650" b="1" spc="-5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45" dirty="0">
                <a:solidFill>
                  <a:srgbClr val="F4CAB8"/>
                </a:solidFill>
                <a:latin typeface="Cambria"/>
                <a:cs typeface="Cambria"/>
              </a:rPr>
              <a:t>6ccuímc?</a:t>
            </a:r>
            <a:endParaRPr sz="16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Near-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perfect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record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integrity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compared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to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manual</a:t>
            </a:r>
            <a:r>
              <a:rPr sz="125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paper-based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systems.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2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4150" b="1" spc="-20" dirty="0">
                <a:solidFill>
                  <a:srgbClr val="F4CAB8"/>
                </a:solidFill>
                <a:latin typeface="Cambria"/>
                <a:cs typeface="Cambria"/>
              </a:rPr>
              <a:t>?4/T</a:t>
            </a:r>
            <a:endParaRPr sz="41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sz="1650" b="1" spc="120" dirty="0">
                <a:solidFill>
                  <a:srgbClr val="F4CAB8"/>
                </a:solidFill>
                <a:latin typeface="Cambria"/>
                <a:cs typeface="Cambria"/>
              </a:rPr>
              <a:t>S?stcm</a:t>
            </a:r>
            <a:r>
              <a:rPr sz="1650" b="1" spc="-30" dirty="0">
                <a:solidFill>
                  <a:srgbClr val="F4CAB8"/>
                </a:solidFill>
                <a:latin typeface="Cambria"/>
                <a:cs typeface="Cambria"/>
              </a:rPr>
              <a:t> </a:t>
            </a:r>
            <a:r>
              <a:rPr sz="1650" b="1" spc="85" dirty="0">
                <a:solidFill>
                  <a:srgbClr val="F4CAB8"/>
                </a:solidFill>
                <a:latin typeface="Cambria"/>
                <a:cs typeface="Cambria"/>
              </a:rPr>
              <a:t>Uptimc</a:t>
            </a:r>
            <a:endParaRPr sz="16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Always-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on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availability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ensures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blood banks</a:t>
            </a:r>
            <a:r>
              <a:rPr sz="125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operate </a:t>
            </a:r>
            <a:r>
              <a:rPr sz="1250" spc="45" dirty="0">
                <a:solidFill>
                  <a:srgbClr val="F4CAB8"/>
                </a:solidFill>
                <a:latin typeface="Verdana"/>
                <a:cs typeface="Verdana"/>
              </a:rPr>
              <a:t>without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interruption.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9870" y="663575"/>
            <a:ext cx="74225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5" dirty="0"/>
              <a:t>Futuíe</a:t>
            </a:r>
            <a:r>
              <a:rPr spc="-50" dirty="0"/>
              <a:t> </a:t>
            </a:r>
            <a:r>
              <a:rPr spc="130" dirty="0"/>
              <a:t>Enhancements</a:t>
            </a:r>
            <a:r>
              <a:rPr spc="-45" dirty="0"/>
              <a:t> </a:t>
            </a:r>
            <a:r>
              <a:rPr spc="170" dirty="0"/>
              <a:t>&amp;</a:t>
            </a:r>
            <a:r>
              <a:rPr spc="-45" dirty="0"/>
              <a:t> </a:t>
            </a:r>
            <a:r>
              <a:rPr spc="105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4" y="2112051"/>
            <a:ext cx="241935" cy="2082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4" y="3369351"/>
            <a:ext cx="241935" cy="2082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4" y="4636176"/>
            <a:ext cx="241935" cy="2082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 dirty="0"/>
              <a:t>What's</a:t>
            </a:r>
            <a:r>
              <a:rPr spc="-35" dirty="0"/>
              <a:t> </a:t>
            </a:r>
            <a:r>
              <a:rPr spc="60" dirty="0"/>
              <a:t>Next</a:t>
            </a:r>
          </a:p>
          <a:p>
            <a:pPr marL="534670">
              <a:lnSpc>
                <a:spcPct val="100000"/>
              </a:lnSpc>
              <a:spcBef>
                <a:spcPts val="1545"/>
              </a:spcBef>
            </a:pPr>
            <a:r>
              <a:rPr spc="130" dirty="0">
                <a:solidFill>
                  <a:srgbClr val="F4CAB8"/>
                </a:solidFill>
              </a:rPr>
              <a:t>6I-</a:t>
            </a:r>
            <a:r>
              <a:rPr spc="85" dirty="0">
                <a:solidFill>
                  <a:srgbClr val="F4CAB8"/>
                </a:solidFill>
              </a:rPr>
              <a:t>Powcícd</a:t>
            </a:r>
            <a:r>
              <a:rPr spc="5" dirty="0">
                <a:solidFill>
                  <a:srgbClr val="F4CAB8"/>
                </a:solidFill>
              </a:rPr>
              <a:t> </a:t>
            </a:r>
            <a:r>
              <a:rPr dirty="0">
                <a:solidFill>
                  <a:srgbClr val="F4CAB8"/>
                </a:solidFill>
              </a:rPr>
              <a:t>Dcmmnd</a:t>
            </a:r>
            <a:r>
              <a:rPr spc="5" dirty="0">
                <a:solidFill>
                  <a:srgbClr val="F4CAB8"/>
                </a:solidFill>
              </a:rPr>
              <a:t> </a:t>
            </a:r>
            <a:r>
              <a:rPr spc="-10" dirty="0">
                <a:solidFill>
                  <a:srgbClr val="F4CAB8"/>
                </a:solidFill>
              </a:rPr>
              <a:t>Foíccmsting</a:t>
            </a:r>
          </a:p>
          <a:p>
            <a:pPr marL="534670" marR="5080">
              <a:lnSpc>
                <a:spcPct val="135000"/>
              </a:lnSpc>
              <a:spcBef>
                <a:spcPts val="1120"/>
              </a:spcBef>
            </a:pP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Predict</a:t>
            </a:r>
            <a:r>
              <a:rPr sz="1250" b="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shortages</a:t>
            </a:r>
            <a:r>
              <a:rPr sz="1250" b="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before</a:t>
            </a:r>
            <a:r>
              <a:rPr sz="1250" b="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they</a:t>
            </a:r>
            <a:r>
              <a:rPr sz="1250" b="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occur</a:t>
            </a:r>
            <a:r>
              <a:rPr sz="1250" b="0" spc="7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using</a:t>
            </a:r>
            <a:r>
              <a:rPr sz="1250" b="0" spc="7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historical data.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250">
              <a:latin typeface="Verdana"/>
              <a:cs typeface="Verdana"/>
            </a:endParaRPr>
          </a:p>
          <a:p>
            <a:pPr marL="534670">
              <a:lnSpc>
                <a:spcPct val="100000"/>
              </a:lnSpc>
            </a:pPr>
            <a:r>
              <a:rPr spc="65" dirty="0">
                <a:solidFill>
                  <a:srgbClr val="F4CAB8"/>
                </a:solidFill>
              </a:rPr>
              <a:t>Mobilc</a:t>
            </a:r>
            <a:r>
              <a:rPr spc="-20" dirty="0">
                <a:solidFill>
                  <a:srgbClr val="F4CAB8"/>
                </a:solidFill>
              </a:rPr>
              <a:t> </a:t>
            </a:r>
            <a:r>
              <a:rPr spc="105" dirty="0">
                <a:solidFill>
                  <a:srgbClr val="F4CAB8"/>
                </a:solidFill>
              </a:rPr>
              <a:t>6pp</a:t>
            </a:r>
            <a:r>
              <a:rPr spc="-20" dirty="0">
                <a:solidFill>
                  <a:srgbClr val="F4CAB8"/>
                </a:solidFill>
              </a:rPr>
              <a:t> </a:t>
            </a:r>
            <a:r>
              <a:rPr spc="135" dirty="0">
                <a:solidFill>
                  <a:srgbClr val="F4CAB8"/>
                </a:solidFill>
              </a:rPr>
              <a:t>foí</a:t>
            </a:r>
            <a:r>
              <a:rPr spc="-15" dirty="0">
                <a:solidFill>
                  <a:srgbClr val="F4CAB8"/>
                </a:solidFill>
              </a:rPr>
              <a:t> </a:t>
            </a:r>
            <a:r>
              <a:rPr spc="85" dirty="0">
                <a:solidFill>
                  <a:srgbClr val="F4CAB8"/>
                </a:solidFill>
              </a:rPr>
              <a:t>Donoís</a:t>
            </a:r>
          </a:p>
          <a:p>
            <a:pPr marL="534670" marR="15875">
              <a:lnSpc>
                <a:spcPct val="135000"/>
              </a:lnSpc>
              <a:spcBef>
                <a:spcPts val="1120"/>
              </a:spcBef>
            </a:pP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Self-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service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 registration,</a:t>
            </a:r>
            <a:r>
              <a:rPr sz="1250" b="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45" dirty="0">
                <a:solidFill>
                  <a:srgbClr val="F4CAB8"/>
                </a:solidFill>
                <a:latin typeface="Verdana"/>
                <a:cs typeface="Verdana"/>
              </a:rPr>
              <a:t>appointment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booking,</a:t>
            </a:r>
            <a:r>
              <a:rPr sz="1250" b="0" spc="-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25" dirty="0">
                <a:solidFill>
                  <a:srgbClr val="F4CAB8"/>
                </a:solidFill>
                <a:latin typeface="Verdana"/>
                <a:cs typeface="Verdana"/>
              </a:rPr>
              <a:t>and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donation</a:t>
            </a:r>
            <a:r>
              <a:rPr sz="1250" b="0" spc="2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history.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250">
              <a:latin typeface="Verdana"/>
              <a:cs typeface="Verdana"/>
            </a:endParaRPr>
          </a:p>
          <a:p>
            <a:pPr marL="534670">
              <a:lnSpc>
                <a:spcPct val="100000"/>
              </a:lnSpc>
              <a:spcBef>
                <a:spcPts val="5"/>
              </a:spcBef>
            </a:pPr>
            <a:r>
              <a:rPr spc="125" dirty="0">
                <a:solidFill>
                  <a:srgbClr val="F4CAB8"/>
                </a:solidFill>
              </a:rPr>
              <a:t>Intcí-</a:t>
            </a:r>
            <a:r>
              <a:rPr spc="-20" dirty="0">
                <a:solidFill>
                  <a:srgbClr val="F4CAB8"/>
                </a:solidFill>
              </a:rPr>
              <a:t>Hospitml</a:t>
            </a:r>
            <a:r>
              <a:rPr spc="15" dirty="0">
                <a:solidFill>
                  <a:srgbClr val="F4CAB8"/>
                </a:solidFill>
              </a:rPr>
              <a:t> </a:t>
            </a:r>
            <a:r>
              <a:rPr spc="90" dirty="0">
                <a:solidFill>
                  <a:srgbClr val="F4CAB8"/>
                </a:solidFill>
              </a:rPr>
              <a:t>Nctwoík</a:t>
            </a:r>
          </a:p>
          <a:p>
            <a:pPr marL="534670" marR="171450">
              <a:lnSpc>
                <a:spcPct val="135000"/>
              </a:lnSpc>
              <a:spcBef>
                <a:spcPts val="1120"/>
              </a:spcBef>
            </a:pP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Share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inventory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across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facilities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for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dirty="0">
                <a:solidFill>
                  <a:srgbClr val="F4CAB8"/>
                </a:solidFill>
                <a:latin typeface="Verdana"/>
                <a:cs typeface="Verdana"/>
              </a:rPr>
              <a:t>regional</a:t>
            </a:r>
            <a:r>
              <a:rPr sz="1250" b="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0" spc="-10" dirty="0">
                <a:solidFill>
                  <a:srgbClr val="F4CAB8"/>
                </a:solidFill>
                <a:latin typeface="Verdana"/>
                <a:cs typeface="Verdana"/>
              </a:rPr>
              <a:t>blood management.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00723" y="1476374"/>
            <a:ext cx="5191125" cy="4267200"/>
          </a:xfrm>
          <a:custGeom>
            <a:avLst/>
            <a:gdLst/>
            <a:ahLst/>
            <a:cxnLst/>
            <a:rect l="l" t="t" r="r" b="b"/>
            <a:pathLst>
              <a:path w="5191125" h="4267200">
                <a:moveTo>
                  <a:pt x="5173697" y="4267199"/>
                </a:moveTo>
                <a:lnTo>
                  <a:pt x="17427" y="4267199"/>
                </a:lnTo>
                <a:lnTo>
                  <a:pt x="14864" y="4266689"/>
                </a:lnTo>
                <a:lnTo>
                  <a:pt x="0" y="4249771"/>
                </a:lnTo>
                <a:lnTo>
                  <a:pt x="0" y="4247107"/>
                </a:lnTo>
                <a:lnTo>
                  <a:pt x="0" y="17427"/>
                </a:lnTo>
                <a:lnTo>
                  <a:pt x="17427" y="0"/>
                </a:lnTo>
                <a:lnTo>
                  <a:pt x="5173697" y="0"/>
                </a:lnTo>
                <a:lnTo>
                  <a:pt x="5191124" y="17427"/>
                </a:lnTo>
                <a:lnTo>
                  <a:pt x="5191124" y="4249771"/>
                </a:lnTo>
                <a:lnTo>
                  <a:pt x="5176259" y="4266689"/>
                </a:lnTo>
                <a:lnTo>
                  <a:pt x="5173697" y="4267199"/>
                </a:lnTo>
                <a:close/>
              </a:path>
            </a:pathLst>
          </a:custGeom>
          <a:solidFill>
            <a:srgbClr val="4113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52926" y="1611312"/>
            <a:ext cx="4761230" cy="145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FFB393"/>
                </a:solidFill>
                <a:latin typeface="Cambria"/>
                <a:cs typeface="Cambria"/>
              </a:rPr>
              <a:t>Key</a:t>
            </a:r>
            <a:r>
              <a:rPr sz="1650" b="1" spc="70" dirty="0">
                <a:solidFill>
                  <a:srgbClr val="FFB393"/>
                </a:solidFill>
                <a:latin typeface="Cambria"/>
                <a:cs typeface="Cambria"/>
              </a:rPr>
              <a:t> </a:t>
            </a:r>
            <a:r>
              <a:rPr sz="1650" b="1" spc="-10" dirty="0">
                <a:solidFill>
                  <a:srgbClr val="FFB393"/>
                </a:solidFill>
                <a:latin typeface="Cambria"/>
                <a:cs typeface="Cambria"/>
              </a:rPr>
              <a:t>Takeaway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The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Smart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Blood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F4CAB8"/>
                </a:solidFill>
                <a:latin typeface="Verdana"/>
                <a:cs typeface="Verdana"/>
              </a:rPr>
              <a:t>Management</a:t>
            </a:r>
            <a:r>
              <a:rPr sz="1250" spc="-3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System</a:t>
            </a:r>
            <a:r>
              <a:rPr sz="1250" spc="-4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demonstrates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F4CAB8"/>
                </a:solidFill>
                <a:latin typeface="Verdana"/>
                <a:cs typeface="Verdana"/>
              </a:rPr>
              <a:t>how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modern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Java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engineering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can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solve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35" dirty="0">
                <a:solidFill>
                  <a:srgbClr val="F4CAB8"/>
                </a:solidFill>
                <a:latin typeface="Verdana"/>
                <a:cs typeface="Verdana"/>
              </a:rPr>
              <a:t>real-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world</a:t>
            </a:r>
            <a:r>
              <a:rPr sz="1250" spc="8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healthcare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challenges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—</a:t>
            </a:r>
            <a:r>
              <a:rPr sz="1250" spc="5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improving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efficiency,</a:t>
            </a:r>
            <a:r>
              <a:rPr sz="1250" spc="6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ensuring</a:t>
            </a:r>
            <a:r>
              <a:rPr sz="1250" spc="6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data</a:t>
            </a:r>
            <a:r>
              <a:rPr sz="1250" spc="6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security,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and</a:t>
            </a:r>
            <a:r>
              <a:rPr sz="1250" spc="1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F4CAB8"/>
                </a:solidFill>
                <a:latin typeface="Verdana"/>
                <a:cs typeface="Verdana"/>
              </a:rPr>
              <a:t>ultimately</a:t>
            </a:r>
            <a:r>
              <a:rPr sz="1250" spc="20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1" spc="-45" dirty="0">
                <a:solidFill>
                  <a:srgbClr val="F4CAB8"/>
                </a:solidFill>
                <a:latin typeface="Verdana"/>
                <a:cs typeface="Verdana"/>
              </a:rPr>
              <a:t>saving</a:t>
            </a:r>
            <a:r>
              <a:rPr sz="1250" b="1" spc="55" dirty="0">
                <a:solidFill>
                  <a:srgbClr val="F4CAB8"/>
                </a:solidFill>
                <a:latin typeface="Verdana"/>
                <a:cs typeface="Verdana"/>
              </a:rPr>
              <a:t> </a:t>
            </a:r>
            <a:r>
              <a:rPr sz="1250" b="1" spc="-10" dirty="0">
                <a:solidFill>
                  <a:srgbClr val="F4CAB8"/>
                </a:solidFill>
                <a:latin typeface="Verdana"/>
                <a:cs typeface="Verdana"/>
              </a:rPr>
              <a:t>lives</a:t>
            </a:r>
            <a:r>
              <a:rPr sz="1250" spc="-10" dirty="0">
                <a:solidFill>
                  <a:srgbClr val="F4CAB8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7412" y="3281362"/>
            <a:ext cx="2533650" cy="238125"/>
          </a:xfrm>
          <a:custGeom>
            <a:avLst/>
            <a:gdLst/>
            <a:ahLst/>
            <a:cxnLst/>
            <a:rect l="l" t="t" r="r" b="b"/>
            <a:pathLst>
              <a:path w="2533650" h="238125">
                <a:moveTo>
                  <a:pt x="0" y="226814"/>
                </a:moveTo>
                <a:lnTo>
                  <a:pt x="0" y="11310"/>
                </a:lnTo>
                <a:lnTo>
                  <a:pt x="0" y="8187"/>
                </a:lnTo>
                <a:lnTo>
                  <a:pt x="1104" y="5521"/>
                </a:lnTo>
                <a:lnTo>
                  <a:pt x="3312" y="3312"/>
                </a:lnTo>
                <a:lnTo>
                  <a:pt x="5521" y="1104"/>
                </a:lnTo>
                <a:lnTo>
                  <a:pt x="8187" y="0"/>
                </a:lnTo>
                <a:lnTo>
                  <a:pt x="11310" y="0"/>
                </a:lnTo>
                <a:lnTo>
                  <a:pt x="2522338" y="0"/>
                </a:lnTo>
                <a:lnTo>
                  <a:pt x="2525461" y="0"/>
                </a:lnTo>
                <a:lnTo>
                  <a:pt x="2528127" y="1104"/>
                </a:lnTo>
                <a:lnTo>
                  <a:pt x="2530336" y="3312"/>
                </a:lnTo>
                <a:lnTo>
                  <a:pt x="2532544" y="5521"/>
                </a:lnTo>
                <a:lnTo>
                  <a:pt x="2533649" y="8187"/>
                </a:lnTo>
                <a:lnTo>
                  <a:pt x="2533649" y="11310"/>
                </a:lnTo>
                <a:lnTo>
                  <a:pt x="2533649" y="226814"/>
                </a:lnTo>
                <a:lnTo>
                  <a:pt x="2533649" y="229937"/>
                </a:lnTo>
                <a:lnTo>
                  <a:pt x="2532544" y="232603"/>
                </a:lnTo>
                <a:lnTo>
                  <a:pt x="2530336" y="234811"/>
                </a:lnTo>
                <a:lnTo>
                  <a:pt x="2528127" y="237020"/>
                </a:lnTo>
                <a:lnTo>
                  <a:pt x="2525461" y="238124"/>
                </a:lnTo>
                <a:lnTo>
                  <a:pt x="2522338" y="238124"/>
                </a:lnTo>
                <a:lnTo>
                  <a:pt x="11310" y="238124"/>
                </a:lnTo>
                <a:lnTo>
                  <a:pt x="8187" y="238124"/>
                </a:lnTo>
                <a:lnTo>
                  <a:pt x="5521" y="237020"/>
                </a:lnTo>
                <a:lnTo>
                  <a:pt x="3312" y="234811"/>
                </a:lnTo>
                <a:lnTo>
                  <a:pt x="1104" y="232603"/>
                </a:lnTo>
                <a:lnTo>
                  <a:pt x="0" y="229937"/>
                </a:lnTo>
                <a:lnTo>
                  <a:pt x="0" y="226814"/>
                </a:lnTo>
                <a:close/>
              </a:path>
            </a:pathLst>
          </a:custGeom>
          <a:ln w="9524">
            <a:solidFill>
              <a:srgbClr val="FFB3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67412" y="3281362"/>
            <a:ext cx="2533650" cy="23812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235"/>
              </a:spcBef>
            </a:pPr>
            <a:r>
              <a:rPr sz="1000" spc="-10" dirty="0">
                <a:solidFill>
                  <a:srgbClr val="FFB393"/>
                </a:solidFill>
                <a:latin typeface="Verdana"/>
                <a:cs typeface="Verdana"/>
              </a:rPr>
              <a:t>INNOVATE.</a:t>
            </a:r>
            <a:r>
              <a:rPr sz="1000" spc="-15" dirty="0">
                <a:solidFill>
                  <a:srgbClr val="FFB393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B393"/>
                </a:solidFill>
                <a:latin typeface="Verdana"/>
                <a:cs typeface="Verdana"/>
              </a:rPr>
              <a:t>AUTOMATE.</a:t>
            </a:r>
            <a:r>
              <a:rPr sz="1000" spc="-10" dirty="0">
                <a:solidFill>
                  <a:srgbClr val="FFB393"/>
                </a:solidFill>
                <a:latin typeface="Verdana"/>
                <a:cs typeface="Verdana"/>
              </a:rPr>
              <a:t> SAVE</a:t>
            </a:r>
            <a:r>
              <a:rPr sz="1000" spc="-15" dirty="0">
                <a:solidFill>
                  <a:srgbClr val="FFB393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FFB393"/>
                </a:solidFill>
                <a:latin typeface="Verdana"/>
                <a:cs typeface="Verdana"/>
              </a:rPr>
              <a:t>LIVES.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686</Words>
  <Application>Microsoft Office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</vt:lpstr>
      <vt:lpstr>Segoe UI Symbol</vt:lpstr>
      <vt:lpstr>Trebuchet MS</vt:lpstr>
      <vt:lpstr>Verdana</vt:lpstr>
      <vt:lpstr>Office Theme</vt:lpstr>
      <vt:lpstr>Smart Blood Management System</vt:lpstr>
      <vt:lpstr>Challenges in Tíaditional Blood Management</vt:lpstr>
      <vt:lpstr>S?stcm 6íchitcctuíc: Jmvm-Bmscd Solution</vt:lpstr>
      <vt:lpstr>¼c? Fcmtuícs mt m 4lmncc</vt:lpstr>
      <vt:lpstr>Donoí Modulc: Rcgistímtion &amp; Eligibilit?</vt:lpstr>
      <vt:lpstr>Blood Request Module: Píocessing &amp; Allocation</vt:lpstr>
      <vt:lpstr>Technology Stack</vt:lpstr>
      <vt:lpstr>Sccuíit? &amp; Dmtm Píivmc?</vt:lpstr>
      <vt:lpstr>Benefits &amp; Impact</vt:lpstr>
      <vt:lpstr>Futuíe Enhancements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</dc:creator>
  <cp:lastModifiedBy>Harsh Tripathi</cp:lastModifiedBy>
  <cp:revision>2</cp:revision>
  <dcterms:created xsi:type="dcterms:W3CDTF">2026-09-23T04:45:10Z</dcterms:created>
  <dcterms:modified xsi:type="dcterms:W3CDTF">2026-10-07T04:32:20Z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2026-08-19T00:00:00Z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2026-09-23T00:00:00Z</vt:filetime>
  </property>
  <property fmtid="{D5CDD505-2E9C-101B-9397-08002B2CF9AE}" pid="6" name="Producer">
    <vt:lpwstr>pdf-lib (https://github.com/Hopding/pdf-lib)</vt:lpwstr>
  </property>
</Properties>
</file>